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tiff" ContentType="image/tif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handoutMasterIdLst>
    <p:handoutMasterId r:id="rId14"/>
  </p:handoutMasterIdLst>
  <p:sldIdLst>
    <p:sldId id="256" r:id="rId2"/>
    <p:sldId id="257" r:id="rId3"/>
    <p:sldId id="258" r:id="rId4"/>
    <p:sldId id="259" r:id="rId5"/>
    <p:sldId id="263" r:id="rId6"/>
    <p:sldId id="265" r:id="rId7"/>
    <p:sldId id="266" r:id="rId8"/>
    <p:sldId id="261" r:id="rId9"/>
    <p:sldId id="262" r:id="rId10"/>
    <p:sldId id="267" r:id="rId11"/>
    <p:sldId id="270"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753"/>
    <p:restoredTop sz="75567"/>
  </p:normalViewPr>
  <p:slideViewPr>
    <p:cSldViewPr snapToGrid="0" snapToObjects="1">
      <p:cViewPr>
        <p:scale>
          <a:sx n="92" d="100"/>
          <a:sy n="92" d="100"/>
        </p:scale>
        <p:origin x="144" y="144"/>
      </p:cViewPr>
      <p:guideLst/>
    </p:cSldViewPr>
  </p:slideViewPr>
  <p:notesTextViewPr>
    <p:cViewPr>
      <p:scale>
        <a:sx n="1" d="1"/>
        <a:sy n="1" d="1"/>
      </p:scale>
      <p:origin x="0" y="0"/>
    </p:cViewPr>
  </p:notesTextViewPr>
  <p:notesViewPr>
    <p:cSldViewPr snapToGrid="0" snapToObjects="1">
      <p:cViewPr varScale="1">
        <p:scale>
          <a:sx n="86" d="100"/>
          <a:sy n="86" d="100"/>
        </p:scale>
        <p:origin x="2720" y="224"/>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A0EC4D9-AB57-B249-90D1-EB68FF40818E}"/>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D5EF7AC4-6B3F-A240-BE31-6BAA6592C0B9}"/>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E0EF8A4-7B6F-C542-922F-E56746701C64}" type="datetimeFigureOut">
              <a:rPr lang="en-US" smtClean="0"/>
              <a:t>3/20/18</a:t>
            </a:fld>
            <a:endParaRPr lang="en-US"/>
          </a:p>
        </p:txBody>
      </p:sp>
      <p:sp>
        <p:nvSpPr>
          <p:cNvPr id="4" name="Footer Placeholder 3">
            <a:extLst>
              <a:ext uri="{FF2B5EF4-FFF2-40B4-BE49-F238E27FC236}">
                <a16:creationId xmlns:a16="http://schemas.microsoft.com/office/drawing/2014/main" id="{DA695D64-F04D-C349-A26F-68118A1F7CD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230115D9-99D1-0B41-B80A-BA0793C475F0}"/>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CA1A343-DBB3-3042-AEA0-0E85926E3803}" type="slidenum">
              <a:rPr lang="en-US" smtClean="0"/>
              <a:t>‹#›</a:t>
            </a:fld>
            <a:endParaRPr lang="en-US"/>
          </a:p>
        </p:txBody>
      </p:sp>
    </p:spTree>
    <p:extLst>
      <p:ext uri="{BB962C8B-B14F-4D97-AF65-F5344CB8AC3E}">
        <p14:creationId xmlns:p14="http://schemas.microsoft.com/office/powerpoint/2010/main" val="383496658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3B65D46-F843-B94D-974E-5076858057A6}" type="datetimeFigureOut">
              <a:rPr lang="en-US" smtClean="0"/>
              <a:t>3/19/18</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D865318-77F3-004D-AACC-8204BFA845AB}" type="slidenum">
              <a:rPr lang="en-US" smtClean="0"/>
              <a:t>‹#›</a:t>
            </a:fld>
            <a:endParaRPr lang="en-US"/>
          </a:p>
        </p:txBody>
      </p:sp>
    </p:spTree>
    <p:extLst>
      <p:ext uri="{BB962C8B-B14F-4D97-AF65-F5344CB8AC3E}">
        <p14:creationId xmlns:p14="http://schemas.microsoft.com/office/powerpoint/2010/main" val="27153449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D865318-77F3-004D-AACC-8204BFA845AB}" type="slidenum">
              <a:rPr lang="en-US" smtClean="0"/>
              <a:t>2</a:t>
            </a:fld>
            <a:endParaRPr lang="en-US"/>
          </a:p>
        </p:txBody>
      </p:sp>
    </p:spTree>
    <p:extLst>
      <p:ext uri="{BB962C8B-B14F-4D97-AF65-F5344CB8AC3E}">
        <p14:creationId xmlns:p14="http://schemas.microsoft.com/office/powerpoint/2010/main" val="126553379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200" kern="1200" dirty="0">
                <a:solidFill>
                  <a:schemeClr val="tx1"/>
                </a:solidFill>
                <a:effectLst/>
                <a:latin typeface="+mn-lt"/>
                <a:ea typeface="+mn-ea"/>
                <a:cs typeface="+mn-cs"/>
              </a:rPr>
              <a:t>Estimates show that around 40% of the world's population has High Blood Pressure and this can lead to many life-limiting conditions like heart failure and kidney failure, so it is important to screen people regularly for this condition and to manage them appropriately.</a:t>
            </a:r>
            <a:r>
              <a:rPr lang="en-GB" dirty="0">
                <a:effectLst/>
              </a:rPr>
              <a:t> </a:t>
            </a:r>
            <a:endParaRPr lang="en-GB" sz="1200" kern="1200" dirty="0">
              <a:solidFill>
                <a:schemeClr val="tx1"/>
              </a:solidFill>
              <a:effectLst/>
              <a:latin typeface="+mn-l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200" kern="1200" dirty="0">
                <a:solidFill>
                  <a:schemeClr val="tx1"/>
                </a:solidFill>
                <a:effectLst/>
                <a:latin typeface="+mn-lt"/>
                <a:ea typeface="+mn-ea"/>
                <a:cs typeface="+mn-cs"/>
              </a:rPr>
              <a:t>Blood pressure readings are difficult to record accurately in a clinical setting, as the anxiety and stress of the experience tends to give inaccurately high readings. Therefore, to diagnose and manage blood pressure, patients are required to monitor their readings at home for a given period.</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200" kern="1200" dirty="0">
                <a:solidFill>
                  <a:schemeClr val="tx1"/>
                </a:solidFill>
                <a:effectLst/>
                <a:latin typeface="+mn-lt"/>
                <a:ea typeface="+mn-ea"/>
                <a:cs typeface="+mn-cs"/>
              </a:rPr>
              <a:t>So we have created an innovative medical application that connects the doctors to their patients and enables doctors to receive effortlessly, their patient’s blood pressure readings.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200" kern="1200" dirty="0">
                <a:solidFill>
                  <a:schemeClr val="tx1"/>
                </a:solidFill>
                <a:effectLst/>
                <a:latin typeface="+mn-lt"/>
                <a:ea typeface="+mn-ea"/>
                <a:cs typeface="+mn-cs"/>
              </a:rPr>
              <a:t>The main feature of this application is for the patient to submit their blood pressure readings and for the doctor to interpret it. Additionally, the patient is able to follow its progress through the statistics and graphs displayed on their homepage. The doctor will be kept aware of the patients that completed their reads, he/she will be able to search for specific patient and view their details and add new patients to the system.</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200" kern="1200" dirty="0">
                <a:solidFill>
                  <a:schemeClr val="tx1"/>
                </a:solidFill>
                <a:effectLst/>
                <a:latin typeface="+mn-lt"/>
                <a:ea typeface="+mn-ea"/>
                <a:cs typeface="+mn-cs"/>
              </a:rPr>
              <a:t>Based on our Background research highlighted that the unique feature of our app will be the connectivity with the clinician</a:t>
            </a:r>
            <a:r>
              <a:rPr lang="en-GB" dirty="0">
                <a:effectLst/>
              </a:rPr>
              <a:t> </a:t>
            </a:r>
            <a:endParaRPr lang="en-US" dirty="0"/>
          </a:p>
        </p:txBody>
      </p:sp>
      <p:sp>
        <p:nvSpPr>
          <p:cNvPr id="4" name="Slide Number Placeholder 3"/>
          <p:cNvSpPr>
            <a:spLocks noGrp="1"/>
          </p:cNvSpPr>
          <p:nvPr>
            <p:ph type="sldNum" sz="quarter" idx="10"/>
          </p:nvPr>
        </p:nvSpPr>
        <p:spPr/>
        <p:txBody>
          <a:bodyPr/>
          <a:lstStyle/>
          <a:p>
            <a:fld id="{FD865318-77F3-004D-AACC-8204BFA845AB}" type="slidenum">
              <a:rPr lang="en-US" smtClean="0"/>
              <a:t>3</a:t>
            </a:fld>
            <a:endParaRPr lang="en-US"/>
          </a:p>
        </p:txBody>
      </p:sp>
    </p:spTree>
    <p:extLst>
      <p:ext uri="{BB962C8B-B14F-4D97-AF65-F5344CB8AC3E}">
        <p14:creationId xmlns:p14="http://schemas.microsoft.com/office/powerpoint/2010/main" val="6386777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GB" sz="1200" kern="1200" dirty="0">
                <a:solidFill>
                  <a:schemeClr val="tx1"/>
                </a:solidFill>
                <a:effectLst/>
                <a:latin typeface="+mn-lt"/>
                <a:ea typeface="+mn-ea"/>
                <a:cs typeface="+mn-cs"/>
              </a:rPr>
              <a:t>Our blood pressure submission system exists in a three-tier architecture. This architecture is composed from a Client, a Server and a Database</a:t>
            </a:r>
          </a:p>
          <a:p>
            <a:pPr marL="171450" indent="-171450">
              <a:buFont typeface="Arial" panose="020B0604020202020204" pitchFamily="34" charset="0"/>
              <a:buChar char="•"/>
            </a:pPr>
            <a:endParaRPr lang="en-GB" sz="1200" kern="1200" dirty="0">
              <a:solidFill>
                <a:schemeClr val="tx1"/>
              </a:solidFill>
              <a:effectLst/>
              <a:latin typeface="+mn-lt"/>
              <a:ea typeface="+mn-ea"/>
              <a:cs typeface="+mn-cs"/>
            </a:endParaRPr>
          </a:p>
          <a:p>
            <a:pPr marL="171450" indent="-171450">
              <a:buFont typeface="Arial" panose="020B0604020202020204" pitchFamily="34" charset="0"/>
              <a:buChar char="•"/>
            </a:pPr>
            <a:r>
              <a:rPr lang="en-GB" sz="1200" kern="1200" dirty="0">
                <a:solidFill>
                  <a:schemeClr val="tx1"/>
                </a:solidFill>
                <a:effectLst/>
                <a:latin typeface="+mn-lt"/>
                <a:ea typeface="+mn-ea"/>
                <a:cs typeface="+mn-cs"/>
              </a:rPr>
              <a:t>Go to the next slide to show the diagram</a:t>
            </a:r>
            <a:endParaRPr lang="en-US" dirty="0"/>
          </a:p>
        </p:txBody>
      </p:sp>
      <p:sp>
        <p:nvSpPr>
          <p:cNvPr id="4" name="Slide Number Placeholder 3"/>
          <p:cNvSpPr>
            <a:spLocks noGrp="1"/>
          </p:cNvSpPr>
          <p:nvPr>
            <p:ph type="sldNum" sz="quarter" idx="10"/>
          </p:nvPr>
        </p:nvSpPr>
        <p:spPr/>
        <p:txBody>
          <a:bodyPr/>
          <a:lstStyle/>
          <a:p>
            <a:fld id="{FD865318-77F3-004D-AACC-8204BFA845AB}" type="slidenum">
              <a:rPr lang="en-US" smtClean="0"/>
              <a:t>4</a:t>
            </a:fld>
            <a:endParaRPr lang="en-US"/>
          </a:p>
        </p:txBody>
      </p:sp>
    </p:spTree>
    <p:extLst>
      <p:ext uri="{BB962C8B-B14F-4D97-AF65-F5344CB8AC3E}">
        <p14:creationId xmlns:p14="http://schemas.microsoft.com/office/powerpoint/2010/main" val="5774521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mn-cs"/>
              </a:rPr>
              <a:t>Storing User data as whole objects allowed us to be able to manipulate specific user fields and query certain users via SQL, as opposed to loading the objects to memory, making the changes in JAVA and then storing the object back into the database. This allowed our system to be able to query data very quickly.</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200" kern="1200" dirty="0">
              <a:solidFill>
                <a:schemeClr val="tx1"/>
              </a:solidFill>
              <a:effectLst/>
              <a:latin typeface="+mn-l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GB" sz="1200" kern="1200" dirty="0">
              <a:solidFill>
                <a:schemeClr val="tx1"/>
              </a:solidFill>
              <a:effectLst/>
              <a:latin typeface="+mn-lt"/>
              <a:ea typeface="+mn-ea"/>
              <a:cs typeface="+mn-cs"/>
            </a:endParaRPr>
          </a:p>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10"/>
          </p:nvPr>
        </p:nvSpPr>
        <p:spPr/>
        <p:txBody>
          <a:bodyPr/>
          <a:lstStyle/>
          <a:p>
            <a:fld id="{FD865318-77F3-004D-AACC-8204BFA845AB}" type="slidenum">
              <a:rPr lang="en-US" smtClean="0"/>
              <a:t>5</a:t>
            </a:fld>
            <a:endParaRPr lang="en-US"/>
          </a:p>
        </p:txBody>
      </p:sp>
    </p:spTree>
    <p:extLst>
      <p:ext uri="{BB962C8B-B14F-4D97-AF65-F5344CB8AC3E}">
        <p14:creationId xmlns:p14="http://schemas.microsoft.com/office/powerpoint/2010/main" val="9632541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mn-cs"/>
              </a:rPr>
              <a:t>Our database contains two tables. A users table, which stores all the users which have been created, as well as a readings table, which stores all the readings which have been submitted. A common user id field, which is present in both tables is then used to determine which reading belongs to which user.</a:t>
            </a:r>
            <a:endParaRPr lang="en-GB" sz="1200" kern="1200" dirty="0">
              <a:solidFill>
                <a:schemeClr val="tx1"/>
              </a:solidFill>
              <a:effectLst/>
              <a:latin typeface="+mn-lt"/>
              <a:ea typeface="+mn-ea"/>
              <a:cs typeface="+mn-cs"/>
            </a:endParaRPr>
          </a:p>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10"/>
          </p:nvPr>
        </p:nvSpPr>
        <p:spPr/>
        <p:txBody>
          <a:bodyPr/>
          <a:lstStyle/>
          <a:p>
            <a:fld id="{FD865318-77F3-004D-AACC-8204BFA845AB}" type="slidenum">
              <a:rPr lang="en-US" smtClean="0"/>
              <a:t>6</a:t>
            </a:fld>
            <a:endParaRPr lang="en-US"/>
          </a:p>
        </p:txBody>
      </p:sp>
    </p:spTree>
    <p:extLst>
      <p:ext uri="{BB962C8B-B14F-4D97-AF65-F5344CB8AC3E}">
        <p14:creationId xmlns:p14="http://schemas.microsoft.com/office/powerpoint/2010/main" val="338240240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mn-cs"/>
              </a:rPr>
              <a:t>We have not placed constraints at the database level for invalid data entry. This will be done at the point of entry in the client GUI, rather than sending it to the server and waiting for the server to respond with an error. Therefore, the database class methods require certain pre-conditions regarding the validity of the parameters, when data is being entered or retrieved from the database.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200" kern="1200" dirty="0">
              <a:solidFill>
                <a:schemeClr val="tx1"/>
              </a:solidFill>
              <a:effectLst/>
              <a:latin typeface="+mn-l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mn-cs"/>
              </a:rPr>
              <a:t>We created a dedicated Db class which contains methods for any and all queries that the client may wish to make. Each time a request is received from the client, it is passed through from the </a:t>
            </a:r>
            <a:r>
              <a:rPr lang="en-US" sz="1200" b="1" kern="1200" dirty="0">
                <a:solidFill>
                  <a:schemeClr val="tx1"/>
                </a:solidFill>
                <a:effectLst/>
                <a:latin typeface="+mn-lt"/>
                <a:ea typeface="+mn-ea"/>
                <a:cs typeface="+mn-cs"/>
              </a:rPr>
              <a:t>sockets architecture</a:t>
            </a:r>
            <a:r>
              <a:rPr lang="en-US" sz="1200" kern="1200" dirty="0">
                <a:solidFill>
                  <a:schemeClr val="tx1"/>
                </a:solidFill>
                <a:effectLst/>
                <a:latin typeface="+mn-lt"/>
                <a:ea typeface="+mn-ea"/>
                <a:cs typeface="+mn-cs"/>
              </a:rPr>
              <a:t>, and calls the relevant method in the Db class. The methods in this class then execute a </a:t>
            </a:r>
            <a:r>
              <a:rPr lang="en-US" sz="1200" kern="1200" dirty="0" err="1">
                <a:solidFill>
                  <a:schemeClr val="tx1"/>
                </a:solidFill>
                <a:effectLst/>
                <a:latin typeface="+mn-lt"/>
                <a:ea typeface="+mn-ea"/>
                <a:cs typeface="+mn-cs"/>
              </a:rPr>
              <a:t>PreparedStatement</a:t>
            </a:r>
            <a:r>
              <a:rPr lang="en-US" sz="1200" kern="1200" dirty="0">
                <a:solidFill>
                  <a:schemeClr val="tx1"/>
                </a:solidFill>
                <a:effectLst/>
                <a:latin typeface="+mn-lt"/>
                <a:ea typeface="+mn-ea"/>
                <a:cs typeface="+mn-cs"/>
              </a:rPr>
              <a:t> query and process the result to return any required information. Prepared Statements are used for security purposes as they cannot be altered while being executed. This is so because </a:t>
            </a:r>
            <a:r>
              <a:rPr lang="en-GB" sz="1200" b="0" i="0" kern="1200" dirty="0">
                <a:solidFill>
                  <a:schemeClr val="tx1"/>
                </a:solidFill>
                <a:effectLst/>
                <a:latin typeface="+mn-lt"/>
                <a:ea typeface="+mn-ea"/>
                <a:cs typeface="+mn-cs"/>
              </a:rPr>
              <a:t>the query and the data are sent to the database server </a:t>
            </a:r>
            <a:r>
              <a:rPr lang="en-GB" sz="1200" b="0" i="1" kern="1200" dirty="0">
                <a:solidFill>
                  <a:schemeClr val="tx1"/>
                </a:solidFill>
                <a:effectLst/>
                <a:latin typeface="+mn-lt"/>
                <a:ea typeface="+mn-ea"/>
                <a:cs typeface="+mn-cs"/>
              </a:rPr>
              <a:t>separately</a:t>
            </a:r>
            <a:endParaRPr lang="en-GB" sz="1200" kern="1200" dirty="0">
              <a:solidFill>
                <a:schemeClr val="tx1"/>
              </a:solidFill>
              <a:effectLst/>
              <a:latin typeface="+mn-l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200" kern="1200" dirty="0">
              <a:solidFill>
                <a:schemeClr val="tx1"/>
              </a:solidFill>
              <a:effectLst/>
              <a:latin typeface="+mn-l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GB" sz="1200" kern="1200" dirty="0">
              <a:solidFill>
                <a:schemeClr val="tx1"/>
              </a:solidFill>
              <a:effectLst/>
              <a:latin typeface="+mn-lt"/>
              <a:ea typeface="+mn-ea"/>
              <a:cs typeface="+mn-cs"/>
            </a:endParaRPr>
          </a:p>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10"/>
          </p:nvPr>
        </p:nvSpPr>
        <p:spPr/>
        <p:txBody>
          <a:bodyPr/>
          <a:lstStyle/>
          <a:p>
            <a:fld id="{FD865318-77F3-004D-AACC-8204BFA845AB}" type="slidenum">
              <a:rPr lang="en-US" smtClean="0"/>
              <a:t>7</a:t>
            </a:fld>
            <a:endParaRPr lang="en-US"/>
          </a:p>
        </p:txBody>
      </p:sp>
    </p:spTree>
    <p:extLst>
      <p:ext uri="{BB962C8B-B14F-4D97-AF65-F5344CB8AC3E}">
        <p14:creationId xmlns:p14="http://schemas.microsoft.com/office/powerpoint/2010/main" val="174947744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200" kern="1200" dirty="0">
                <a:solidFill>
                  <a:schemeClr val="tx1"/>
                </a:solidFill>
                <a:effectLst/>
                <a:latin typeface="+mn-lt"/>
                <a:ea typeface="+mn-ea"/>
                <a:cs typeface="+mn-cs"/>
              </a:rPr>
              <a:t>The ‘Server’ class is responsible for setting up initial networking, and then producing threads for handling incoming requests. It also keeps in memory any changes that have occurred that clients should be aware of.</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GB" sz="1200" kern="1200" dirty="0">
              <a:solidFill>
                <a:schemeClr val="tx1"/>
              </a:solidFill>
              <a:effectLst/>
              <a:latin typeface="+mn-l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200" kern="1200" dirty="0">
                <a:solidFill>
                  <a:schemeClr val="tx1"/>
                </a:solidFill>
                <a:effectLst/>
                <a:latin typeface="+mn-lt"/>
                <a:ea typeface="+mn-ea"/>
                <a:cs typeface="+mn-cs"/>
              </a:rPr>
              <a:t>the server will attempt to listened to a port on the host machine. If this port is not available for any reason it will iterate through five more ports to see if they can be used, if they cannot it will inform the user.</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GB" sz="1200" kern="1200" dirty="0">
              <a:solidFill>
                <a:schemeClr val="tx1"/>
              </a:solidFill>
              <a:effectLst/>
              <a:latin typeface="+mn-l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GB" sz="1200" kern="1200" dirty="0">
              <a:solidFill>
                <a:schemeClr val="tx1"/>
              </a:solidFill>
              <a:effectLst/>
              <a:latin typeface="+mn-l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200" kern="1200" dirty="0">
                <a:solidFill>
                  <a:schemeClr val="tx1"/>
                </a:solidFill>
                <a:effectLst/>
                <a:latin typeface="+mn-lt"/>
                <a:ea typeface="+mn-ea"/>
                <a:cs typeface="+mn-cs"/>
              </a:rPr>
              <a:t>When a free port is found the sever begins listening for client connections. When it accepts a client, it assigns them a socket, and an </a:t>
            </a:r>
            <a:r>
              <a:rPr lang="en-GB" sz="1200" kern="1200" dirty="0" err="1">
                <a:solidFill>
                  <a:schemeClr val="tx1"/>
                </a:solidFill>
                <a:effectLst/>
                <a:latin typeface="+mn-lt"/>
                <a:ea typeface="+mn-ea"/>
                <a:cs typeface="+mn-cs"/>
              </a:rPr>
              <a:t>ObjectDataStream</a:t>
            </a:r>
            <a:r>
              <a:rPr lang="en-GB" sz="1200" kern="1200" dirty="0">
                <a:solidFill>
                  <a:schemeClr val="tx1"/>
                </a:solidFill>
                <a:effectLst/>
                <a:latin typeface="+mn-lt"/>
                <a:ea typeface="+mn-ea"/>
                <a:cs typeface="+mn-cs"/>
              </a:rPr>
              <a:t> for input and output, and then hands this to a thread to perform the request.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GB" sz="1200" kern="1200" dirty="0">
              <a:solidFill>
                <a:schemeClr val="tx1"/>
              </a:solidFill>
              <a:effectLst/>
              <a:latin typeface="+mn-l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200" kern="1200" dirty="0">
                <a:solidFill>
                  <a:schemeClr val="tx1"/>
                </a:solidFill>
                <a:effectLst/>
                <a:latin typeface="+mn-lt"/>
                <a:ea typeface="+mn-ea"/>
                <a:cs typeface="+mn-cs"/>
              </a:rPr>
              <a:t>The thread is a runnable task that is managed by Java’s ‘Executor’ API. The task is submitted to a cached thread pool which will run the task until the request has been completed. These requests typically are for querying the database for information, and then returning the information to the client in a ‘</a:t>
            </a:r>
            <a:r>
              <a:rPr lang="en-GB" sz="1200" b="1" kern="1200" dirty="0" err="1">
                <a:solidFill>
                  <a:schemeClr val="tx1"/>
                </a:solidFill>
                <a:effectLst/>
                <a:latin typeface="+mn-lt"/>
                <a:ea typeface="+mn-ea"/>
                <a:cs typeface="+mn-cs"/>
              </a:rPr>
              <a:t>TransmissionObject</a:t>
            </a:r>
            <a:r>
              <a:rPr lang="en-GB" sz="1200" kern="1200" dirty="0">
                <a:solidFill>
                  <a:schemeClr val="tx1"/>
                </a:solidFill>
                <a:effectLst/>
                <a:latin typeface="+mn-lt"/>
                <a:ea typeface="+mn-ea"/>
                <a:cs typeface="+mn-cs"/>
              </a:rPr>
              <a: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GB" sz="1200" kern="1200" dirty="0">
              <a:solidFill>
                <a:schemeClr val="tx1"/>
              </a:solidFill>
              <a:effectLst/>
              <a:latin typeface="+mn-l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200" kern="1200" dirty="0">
                <a:solidFill>
                  <a:schemeClr val="tx1"/>
                </a:solidFill>
                <a:effectLst/>
                <a:latin typeface="+mn-lt"/>
                <a:ea typeface="+mn-ea"/>
                <a:cs typeface="+mn-cs"/>
              </a:rPr>
              <a:t>The Server stores readings that are added to the database in a class named ‘Changes’. </a:t>
            </a:r>
            <a:r>
              <a:rPr lang="en-GB" sz="1200" b="0" i="0" kern="1200" dirty="0">
                <a:solidFill>
                  <a:schemeClr val="tx1"/>
                </a:solidFill>
                <a:effectLst/>
                <a:latin typeface="+mn-lt"/>
                <a:ea typeface="+mn-ea"/>
                <a:cs typeface="+mn-cs"/>
              </a:rPr>
              <a:t>When the client checks for changes, the client gives the offset value to the server, which then ensures that the server doesn't report changes that occurred before that offset because the client would already know.</a:t>
            </a:r>
            <a:endParaRPr lang="en-GB" sz="1200" kern="1200" dirty="0">
              <a:solidFill>
                <a:schemeClr val="tx1"/>
              </a:solidFill>
              <a:effectLst/>
              <a:latin typeface="+mn-l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GB" sz="1200" kern="1200" dirty="0">
              <a:solidFill>
                <a:schemeClr val="tx1"/>
              </a:solidFill>
              <a:effectLst/>
              <a:latin typeface="+mn-l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GB" sz="1200" kern="1200" dirty="0">
              <a:solidFill>
                <a:schemeClr val="tx1"/>
              </a:solidFill>
              <a:effectLst/>
              <a:latin typeface="+mn-lt"/>
              <a:ea typeface="+mn-ea"/>
              <a:cs typeface="+mn-cs"/>
            </a:endParaRPr>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10"/>
          </p:nvPr>
        </p:nvSpPr>
        <p:spPr/>
        <p:txBody>
          <a:bodyPr/>
          <a:lstStyle/>
          <a:p>
            <a:fld id="{FD865318-77F3-004D-AACC-8204BFA845AB}" type="slidenum">
              <a:rPr lang="en-US" smtClean="0"/>
              <a:t>8</a:t>
            </a:fld>
            <a:endParaRPr lang="en-US"/>
          </a:p>
        </p:txBody>
      </p:sp>
    </p:spTree>
    <p:extLst>
      <p:ext uri="{BB962C8B-B14F-4D97-AF65-F5344CB8AC3E}">
        <p14:creationId xmlns:p14="http://schemas.microsoft.com/office/powerpoint/2010/main" val="229958512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GB" sz="1200" kern="1200" dirty="0">
                <a:solidFill>
                  <a:schemeClr val="tx1"/>
                </a:solidFill>
                <a:effectLst/>
                <a:latin typeface="+mn-lt"/>
                <a:ea typeface="+mn-ea"/>
                <a:cs typeface="+mn-cs"/>
              </a:rPr>
              <a:t>The class ‘Client’ handles the process of connecting with the server via Java’s sockets functionality, making requests of it, and ensuring that protocol is kept to. If the model needs to make a request of the database or server, it calls on a method in ‘Communicate’. </a:t>
            </a:r>
          </a:p>
          <a:p>
            <a:pPr marL="171450" indent="-171450">
              <a:buFont typeface="Arial" panose="020B0604020202020204" pitchFamily="34" charset="0"/>
              <a:buChar char="•"/>
            </a:pPr>
            <a:endParaRPr lang="en-GB" sz="1200" kern="1200" dirty="0">
              <a:solidFill>
                <a:schemeClr val="tx1"/>
              </a:solidFill>
              <a:effectLst/>
              <a:latin typeface="+mn-lt"/>
              <a:ea typeface="+mn-ea"/>
              <a:cs typeface="+mn-cs"/>
            </a:endParaRPr>
          </a:p>
          <a:p>
            <a:pPr marL="171450" indent="-171450">
              <a:buFont typeface="Arial" panose="020B0604020202020204" pitchFamily="34" charset="0"/>
              <a:buChar char="•"/>
            </a:pPr>
            <a:r>
              <a:rPr lang="en-GB" sz="1200" kern="1200" dirty="0">
                <a:solidFill>
                  <a:schemeClr val="tx1"/>
                </a:solidFill>
                <a:effectLst/>
                <a:latin typeface="+mn-lt"/>
                <a:ea typeface="+mn-ea"/>
                <a:cs typeface="+mn-cs"/>
              </a:rPr>
              <a:t>This method creates a ‘</a:t>
            </a:r>
            <a:r>
              <a:rPr lang="en-GB" sz="1200" kern="1200" dirty="0" err="1">
                <a:solidFill>
                  <a:schemeClr val="tx1"/>
                </a:solidFill>
                <a:effectLst/>
                <a:latin typeface="+mn-lt"/>
                <a:ea typeface="+mn-ea"/>
                <a:cs typeface="+mn-cs"/>
              </a:rPr>
              <a:t>TransmissionObject</a:t>
            </a:r>
            <a:r>
              <a:rPr lang="en-GB" sz="1200" kern="1200" dirty="0">
                <a:solidFill>
                  <a:schemeClr val="tx1"/>
                </a:solidFill>
                <a:effectLst/>
                <a:latin typeface="+mn-lt"/>
                <a:ea typeface="+mn-ea"/>
                <a:cs typeface="+mn-cs"/>
              </a:rPr>
              <a:t>’, which is a serialised object containing the information that needs to be sent to the server, as well as an instance variable specifying the nature of the request it. </a:t>
            </a:r>
          </a:p>
          <a:p>
            <a:pPr marL="171450" indent="-171450">
              <a:buFont typeface="Arial" panose="020B0604020202020204" pitchFamily="34" charset="0"/>
              <a:buChar char="•"/>
            </a:pPr>
            <a:endParaRPr lang="en-GB" sz="1200" kern="1200" dirty="0">
              <a:solidFill>
                <a:schemeClr val="tx1"/>
              </a:solidFill>
              <a:effectLst/>
              <a:latin typeface="+mn-lt"/>
              <a:ea typeface="+mn-ea"/>
              <a:cs typeface="+mn-cs"/>
            </a:endParaRPr>
          </a:p>
          <a:p>
            <a:pPr marL="171450" indent="-171450">
              <a:buFont typeface="Arial" panose="020B0604020202020204" pitchFamily="34" charset="0"/>
              <a:buChar char="•"/>
            </a:pPr>
            <a:r>
              <a:rPr lang="en-GB" sz="1200" kern="1200" dirty="0">
                <a:solidFill>
                  <a:schemeClr val="tx1"/>
                </a:solidFill>
                <a:effectLst/>
                <a:latin typeface="+mn-lt"/>
                <a:ea typeface="+mn-ea"/>
                <a:cs typeface="+mn-cs"/>
              </a:rPr>
              <a:t>Furthermore, if the object contains a user’s password, it encrypts the password using AES (</a:t>
            </a:r>
            <a:r>
              <a:rPr lang="en-GB" sz="1200" b="0" i="0" kern="1200" dirty="0">
                <a:solidFill>
                  <a:schemeClr val="tx1"/>
                </a:solidFill>
                <a:effectLst/>
                <a:latin typeface="+mn-lt"/>
                <a:ea typeface="+mn-ea"/>
                <a:cs typeface="+mn-cs"/>
              </a:rPr>
              <a:t>(Advanced Encryption Standard) </a:t>
            </a:r>
            <a:r>
              <a:rPr lang="en-GB" sz="1200" kern="1200" dirty="0">
                <a:solidFill>
                  <a:schemeClr val="tx1"/>
                </a:solidFill>
                <a:effectLst/>
                <a:latin typeface="+mn-lt"/>
                <a:ea typeface="+mn-ea"/>
                <a:cs typeface="+mn-cs"/>
              </a:rPr>
              <a:t> with a </a:t>
            </a:r>
            <a:r>
              <a:rPr lang="en-GB" sz="1200" kern="1200" dirty="0" err="1">
                <a:solidFill>
                  <a:schemeClr val="tx1"/>
                </a:solidFill>
                <a:effectLst/>
                <a:latin typeface="+mn-lt"/>
                <a:ea typeface="+mn-ea"/>
                <a:cs typeface="+mn-cs"/>
              </a:rPr>
              <a:t>preshared</a:t>
            </a:r>
            <a:r>
              <a:rPr lang="en-GB" sz="1200" kern="1200" dirty="0">
                <a:solidFill>
                  <a:schemeClr val="tx1"/>
                </a:solidFill>
                <a:effectLst/>
                <a:latin typeface="+mn-lt"/>
                <a:ea typeface="+mn-ea"/>
                <a:cs typeface="+mn-cs"/>
              </a:rPr>
              <a:t> key between the server and client. Once the object is created in the correct format it is passed to the ‘Client’ class to be sent to the server.</a:t>
            </a:r>
            <a:r>
              <a:rPr lang="en-GB" dirty="0">
                <a:effectLst/>
              </a:rPr>
              <a:t> </a:t>
            </a:r>
          </a:p>
          <a:p>
            <a:pPr marL="171450" indent="-171450">
              <a:buFont typeface="Arial" panose="020B0604020202020204" pitchFamily="34" charset="0"/>
              <a:buChar char="•"/>
            </a:pPr>
            <a:endParaRPr lang="en-GB" dirty="0">
              <a:effectLst/>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200" kern="1200" dirty="0">
                <a:solidFill>
                  <a:schemeClr val="tx1"/>
                </a:solidFill>
                <a:effectLst/>
                <a:latin typeface="+mn-lt"/>
                <a:ea typeface="+mn-ea"/>
                <a:cs typeface="+mn-cs"/>
              </a:rPr>
              <a:t>The client contains a ‘</a:t>
            </a:r>
            <a:r>
              <a:rPr lang="en-GB" sz="1200" kern="1200" dirty="0" err="1">
                <a:solidFill>
                  <a:schemeClr val="tx1"/>
                </a:solidFill>
                <a:effectLst/>
                <a:latin typeface="+mn-lt"/>
                <a:ea typeface="+mn-ea"/>
                <a:cs typeface="+mn-cs"/>
              </a:rPr>
              <a:t>startUpdater</a:t>
            </a:r>
            <a:r>
              <a:rPr lang="en-GB" sz="1200" kern="1200" dirty="0">
                <a:solidFill>
                  <a:schemeClr val="tx1"/>
                </a:solidFill>
                <a:effectLst/>
                <a:latin typeface="+mn-lt"/>
                <a:ea typeface="+mn-ea"/>
                <a:cs typeface="+mn-cs"/>
              </a:rPr>
              <a:t>()’ method, when this method is called from within ‘Communicate’ class given an observable ‘Update’ object as an argument, it runs a separate thread that updates the ‘Update’ class whenever a change has been made. Being that this class is observable, it drives notification of the model whenever an update is found on the server, ensuring the GUI is displaying the most up to date information.</a:t>
            </a:r>
          </a:p>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10"/>
          </p:nvPr>
        </p:nvSpPr>
        <p:spPr/>
        <p:txBody>
          <a:bodyPr/>
          <a:lstStyle/>
          <a:p>
            <a:fld id="{FD865318-77F3-004D-AACC-8204BFA845AB}" type="slidenum">
              <a:rPr lang="en-US" smtClean="0"/>
              <a:t>9</a:t>
            </a:fld>
            <a:endParaRPr lang="en-US"/>
          </a:p>
        </p:txBody>
      </p:sp>
    </p:spTree>
    <p:extLst>
      <p:ext uri="{BB962C8B-B14F-4D97-AF65-F5344CB8AC3E}">
        <p14:creationId xmlns:p14="http://schemas.microsoft.com/office/powerpoint/2010/main" val="327270245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200" kern="1200" dirty="0">
                <a:solidFill>
                  <a:srgbClr val="FF0000"/>
                </a:solidFill>
                <a:effectLst/>
                <a:latin typeface="+mn-lt"/>
                <a:ea typeface="+mn-ea"/>
                <a:cs typeface="+mn-cs"/>
              </a:rPr>
              <a:t>We have number of model classes  which performs like a link between the business logic and the controller classes. This will ensure that changes done to the view classes will not change the working of the logic and databases. This way, the view requests and receives data but will never influence the structure of the business logic of the application.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GB" sz="1200" kern="1200" dirty="0">
              <a:solidFill>
                <a:srgbClr val="FF0000"/>
              </a:solidFill>
              <a:effectLst/>
              <a:latin typeface="+mn-l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200" kern="1200" dirty="0">
                <a:solidFill>
                  <a:schemeClr val="tx1"/>
                </a:solidFill>
                <a:effectLst/>
                <a:latin typeface="+mn-lt"/>
                <a:ea typeface="+mn-ea"/>
                <a:cs typeface="+mn-cs"/>
              </a:rPr>
              <a:t>When the user attempts to login and presses the login button then action is performed to check whether those details are correct, if not then a popup message appears stating that those details are incorrect. If they are correct the login page will be disposed and then the controller will generate the correct user object to allow the appropriate homepage to appear.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GB" sz="1200" kern="1200" dirty="0">
              <a:solidFill>
                <a:schemeClr val="tx1"/>
              </a:solidFill>
              <a:effectLst/>
              <a:latin typeface="+mn-l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GB" sz="1200" kern="1200" dirty="0">
              <a:solidFill>
                <a:schemeClr val="tx1"/>
              </a:solidFill>
              <a:effectLst/>
              <a:latin typeface="+mn-l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GB" sz="1200" kern="1200" dirty="0">
              <a:solidFill>
                <a:schemeClr val="tx1"/>
              </a:solidFill>
              <a:effectLst/>
              <a:latin typeface="+mn-l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GB" sz="1200" kern="1200" dirty="0">
              <a:solidFill>
                <a:schemeClr val="tx1"/>
              </a:solidFill>
              <a:effectLst/>
              <a:latin typeface="+mn-l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GB" sz="1200" kern="1200" dirty="0">
              <a:solidFill>
                <a:srgbClr val="FF0000"/>
              </a:solidFill>
              <a:effectLst/>
              <a:latin typeface="+mn-l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GB" sz="1200" kern="1200" dirty="0">
              <a:solidFill>
                <a:srgbClr val="FF0000"/>
              </a:solidFill>
              <a:effectLst/>
              <a:latin typeface="+mn-l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GB" sz="1200" kern="1200" dirty="0">
              <a:solidFill>
                <a:srgbClr val="FF0000"/>
              </a:solidFill>
              <a:effectLst/>
              <a:latin typeface="+mn-lt"/>
              <a:ea typeface="+mn-ea"/>
              <a:cs typeface="+mn-cs"/>
            </a:endParaRPr>
          </a:p>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10"/>
          </p:nvPr>
        </p:nvSpPr>
        <p:spPr/>
        <p:txBody>
          <a:bodyPr/>
          <a:lstStyle/>
          <a:p>
            <a:fld id="{FD865318-77F3-004D-AACC-8204BFA845AB}" type="slidenum">
              <a:rPr lang="en-US" smtClean="0"/>
              <a:t>10</a:t>
            </a:fld>
            <a:endParaRPr lang="en-US"/>
          </a:p>
        </p:txBody>
      </p:sp>
    </p:spTree>
    <p:extLst>
      <p:ext uri="{BB962C8B-B14F-4D97-AF65-F5344CB8AC3E}">
        <p14:creationId xmlns:p14="http://schemas.microsoft.com/office/powerpoint/2010/main" val="326879438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200" kern="1200" dirty="0">
                <a:solidFill>
                  <a:schemeClr val="tx1"/>
                </a:solidFill>
                <a:effectLst/>
                <a:latin typeface="+mn-lt"/>
                <a:ea typeface="+mn-ea"/>
                <a:cs typeface="+mn-cs"/>
              </a:rPr>
              <a:t>We believe that we successfully implemented all functionality we planned at the start of the process and the app can be used in real life. Given more time, we would like to add additional functions such as messenger for the doctor and patients and total encryption of the object, but time did not permit us to do so.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GB" sz="1200" kern="1200" dirty="0">
              <a:solidFill>
                <a:schemeClr val="tx1"/>
              </a:solidFill>
              <a:effectLst/>
              <a:latin typeface="+mn-l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200" kern="1200" dirty="0">
                <a:solidFill>
                  <a:schemeClr val="tx1"/>
                </a:solidFill>
                <a:effectLst/>
                <a:latin typeface="+mn-lt"/>
                <a:ea typeface="+mn-ea"/>
                <a:cs typeface="+mn-cs"/>
              </a:rPr>
              <a:t>To cover risk of team members absence, we have made sure that we shadow each other’s work.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GB" sz="1200" kern="1200" dirty="0">
              <a:solidFill>
                <a:schemeClr val="tx1"/>
              </a:solidFill>
              <a:effectLst/>
              <a:latin typeface="+mn-l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200" kern="1200" dirty="0">
                <a:solidFill>
                  <a:schemeClr val="tx1"/>
                </a:solidFill>
                <a:effectLst/>
                <a:latin typeface="+mn-lt"/>
                <a:ea typeface="+mn-ea"/>
                <a:cs typeface="+mn-cs"/>
              </a:rPr>
              <a:t>As the network part was being worked we set up ‘</a:t>
            </a:r>
            <a:r>
              <a:rPr lang="en-GB" sz="1200" kern="1200" dirty="0" err="1">
                <a:solidFill>
                  <a:schemeClr val="tx1"/>
                </a:solidFill>
                <a:effectLst/>
                <a:latin typeface="+mn-lt"/>
                <a:ea typeface="+mn-ea"/>
                <a:cs typeface="+mn-cs"/>
              </a:rPr>
              <a:t>SampleObjects</a:t>
            </a:r>
            <a:r>
              <a:rPr lang="en-GB" sz="1200" kern="1200" dirty="0">
                <a:solidFill>
                  <a:schemeClr val="tx1"/>
                </a:solidFill>
                <a:effectLst/>
                <a:latin typeface="+mn-lt"/>
                <a:ea typeface="+mn-ea"/>
                <a:cs typeface="+mn-cs"/>
              </a:rPr>
              <a:t>’ class, which could be used temporarily to connect the GUI directly to the database and bypassed the Sockets. This allowed the team to work in parallel on different components, and we were able to combine all the </a:t>
            </a:r>
            <a:r>
              <a:rPr lang="en-GB" sz="1200" kern="1200" dirty="0" err="1">
                <a:solidFill>
                  <a:schemeClr val="tx1"/>
                </a:solidFill>
                <a:effectLst/>
                <a:latin typeface="+mn-lt"/>
                <a:ea typeface="+mn-ea"/>
                <a:cs typeface="+mn-cs"/>
              </a:rPr>
              <a:t>sepereate</a:t>
            </a:r>
            <a:r>
              <a:rPr lang="en-GB" sz="1200" kern="1200" dirty="0">
                <a:solidFill>
                  <a:schemeClr val="tx1"/>
                </a:solidFill>
                <a:effectLst/>
                <a:latin typeface="+mn-lt"/>
                <a:ea typeface="+mn-ea"/>
                <a:cs typeface="+mn-cs"/>
              </a:rPr>
              <a:t> units of the program, as they were developed, replacing the ‘</a:t>
            </a:r>
            <a:r>
              <a:rPr lang="en-GB" sz="1200" kern="1200" dirty="0" err="1">
                <a:solidFill>
                  <a:schemeClr val="tx1"/>
                </a:solidFill>
                <a:effectLst/>
                <a:latin typeface="+mn-lt"/>
                <a:ea typeface="+mn-ea"/>
                <a:cs typeface="+mn-cs"/>
              </a:rPr>
              <a:t>SampleObjects</a:t>
            </a:r>
            <a:r>
              <a:rPr lang="en-GB" sz="1200" kern="1200" dirty="0">
                <a:solidFill>
                  <a:schemeClr val="tx1"/>
                </a:solidFill>
                <a:effectLst/>
                <a:latin typeface="+mn-lt"/>
                <a:ea typeface="+mn-ea"/>
                <a:cs typeface="+mn-cs"/>
              </a:rPr>
              <a:t>’ class with the Sockets class ‘Communicate’ as the functionality became available.</a:t>
            </a:r>
            <a:r>
              <a:rPr lang="en-GB" dirty="0">
                <a:effectLst/>
              </a:rPr>
              <a:t> </a:t>
            </a:r>
            <a:endParaRPr lang="en-GB" sz="1200" kern="1200" dirty="0">
              <a:solidFill>
                <a:schemeClr val="tx1"/>
              </a:solidFill>
              <a:effectLst/>
              <a:latin typeface="+mn-l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GB" sz="1200" kern="1200" dirty="0">
              <a:solidFill>
                <a:srgbClr val="FF0000"/>
              </a:solidFill>
              <a:effectLst/>
              <a:latin typeface="+mn-lt"/>
              <a:ea typeface="+mn-ea"/>
              <a:cs typeface="+mn-cs"/>
            </a:endParaRPr>
          </a:p>
          <a:p>
            <a:pPr marL="171450" indent="-171450">
              <a:buFont typeface="Arial" panose="020B0604020202020204" pitchFamily="34" charset="0"/>
              <a:buChar char="•"/>
            </a:pPr>
            <a:r>
              <a:rPr lang="en-GB" sz="1200" kern="1200" dirty="0">
                <a:solidFill>
                  <a:schemeClr val="tx1"/>
                </a:solidFill>
                <a:effectLst/>
                <a:latin typeface="+mn-lt"/>
                <a:ea typeface="+mn-ea"/>
                <a:cs typeface="+mn-cs"/>
              </a:rPr>
              <a:t>On the whole, the team worked well together, we were able to share knowledge with each other and when someone was stuck we helped each other.</a:t>
            </a:r>
          </a:p>
          <a:p>
            <a:r>
              <a:rPr lang="en-GB" sz="1200" kern="1200" dirty="0">
                <a:solidFill>
                  <a:schemeClr val="tx1"/>
                </a:solidFill>
                <a:effectLst/>
                <a:latin typeface="+mn-lt"/>
                <a:ea typeface="+mn-ea"/>
                <a:cs typeface="+mn-cs"/>
              </a:rPr>
              <a:t> </a:t>
            </a:r>
          </a:p>
          <a:p>
            <a:pPr marL="171450" indent="-171450">
              <a:buFont typeface="Arial" panose="020B0604020202020204" pitchFamily="34" charset="0"/>
              <a:buChar char="•"/>
            </a:pPr>
            <a:r>
              <a:rPr lang="en-GB" sz="1200" kern="1200" dirty="0">
                <a:solidFill>
                  <a:schemeClr val="tx1"/>
                </a:solidFill>
                <a:effectLst/>
                <a:latin typeface="+mn-lt"/>
                <a:ea typeface="+mn-ea"/>
                <a:cs typeface="+mn-cs"/>
              </a:rPr>
              <a:t>Time management could have been improved to allow for early finish, but we did manage to finish on time and we are satisfied with the final product.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GB" sz="1200" kern="1200" dirty="0">
              <a:solidFill>
                <a:srgbClr val="FF0000"/>
              </a:solidFill>
              <a:effectLst/>
              <a:latin typeface="+mn-l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GB" sz="1200" kern="1200" dirty="0">
              <a:solidFill>
                <a:srgbClr val="FF0000"/>
              </a:solidFill>
              <a:effectLst/>
              <a:latin typeface="+mn-lt"/>
              <a:ea typeface="+mn-ea"/>
              <a:cs typeface="+mn-cs"/>
            </a:endParaRPr>
          </a:p>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10"/>
          </p:nvPr>
        </p:nvSpPr>
        <p:spPr/>
        <p:txBody>
          <a:bodyPr/>
          <a:lstStyle/>
          <a:p>
            <a:fld id="{FD865318-77F3-004D-AACC-8204BFA845AB}" type="slidenum">
              <a:rPr lang="en-US" smtClean="0"/>
              <a:t>11</a:t>
            </a:fld>
            <a:endParaRPr lang="en-US"/>
          </a:p>
        </p:txBody>
      </p:sp>
    </p:spTree>
    <p:extLst>
      <p:ext uri="{BB962C8B-B14F-4D97-AF65-F5344CB8AC3E}">
        <p14:creationId xmlns:p14="http://schemas.microsoft.com/office/powerpoint/2010/main" val="17222457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689104-B295-4440-B9FE-2D286C0F3BF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339CB79-6450-CA4E-AE6F-53138661439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F834664-4A46-AC4E-9DD6-BAFD1165336B}"/>
              </a:ext>
            </a:extLst>
          </p:cNvPr>
          <p:cNvSpPr>
            <a:spLocks noGrp="1"/>
          </p:cNvSpPr>
          <p:nvPr>
            <p:ph type="dt" sz="half" idx="10"/>
          </p:nvPr>
        </p:nvSpPr>
        <p:spPr/>
        <p:txBody>
          <a:bodyPr/>
          <a:lstStyle/>
          <a:p>
            <a:fld id="{549A11BD-841D-544E-B2C5-4B31CA79C4C0}" type="datetimeFigureOut">
              <a:rPr lang="en-US" smtClean="0"/>
              <a:t>3/19/18</a:t>
            </a:fld>
            <a:endParaRPr lang="en-US"/>
          </a:p>
        </p:txBody>
      </p:sp>
      <p:sp>
        <p:nvSpPr>
          <p:cNvPr id="5" name="Footer Placeholder 4">
            <a:extLst>
              <a:ext uri="{FF2B5EF4-FFF2-40B4-BE49-F238E27FC236}">
                <a16:creationId xmlns:a16="http://schemas.microsoft.com/office/drawing/2014/main" id="{83D93C46-E668-9245-8701-651318F119E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56D8567-71F9-8E41-9088-DE72E425297A}"/>
              </a:ext>
            </a:extLst>
          </p:cNvPr>
          <p:cNvSpPr>
            <a:spLocks noGrp="1"/>
          </p:cNvSpPr>
          <p:nvPr>
            <p:ph type="sldNum" sz="quarter" idx="12"/>
          </p:nvPr>
        </p:nvSpPr>
        <p:spPr/>
        <p:txBody>
          <a:bodyPr/>
          <a:lstStyle/>
          <a:p>
            <a:fld id="{C0F626DC-3C2A-D74B-AF18-11D33A5D1EB4}" type="slidenum">
              <a:rPr lang="en-US" smtClean="0"/>
              <a:t>‹#›</a:t>
            </a:fld>
            <a:endParaRPr lang="en-US"/>
          </a:p>
        </p:txBody>
      </p:sp>
    </p:spTree>
    <p:extLst>
      <p:ext uri="{BB962C8B-B14F-4D97-AF65-F5344CB8AC3E}">
        <p14:creationId xmlns:p14="http://schemas.microsoft.com/office/powerpoint/2010/main" val="5028084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E16FA0-8D83-8D4D-AFEE-D5E7B091485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CBF8D3C-0300-5B4C-A135-0C55EA41DC36}"/>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33A066C-5051-6D40-B0AF-2B2952649EAF}"/>
              </a:ext>
            </a:extLst>
          </p:cNvPr>
          <p:cNvSpPr>
            <a:spLocks noGrp="1"/>
          </p:cNvSpPr>
          <p:nvPr>
            <p:ph type="dt" sz="half" idx="10"/>
          </p:nvPr>
        </p:nvSpPr>
        <p:spPr/>
        <p:txBody>
          <a:bodyPr/>
          <a:lstStyle/>
          <a:p>
            <a:fld id="{549A11BD-841D-544E-B2C5-4B31CA79C4C0}" type="datetimeFigureOut">
              <a:rPr lang="en-US" smtClean="0"/>
              <a:t>3/19/18</a:t>
            </a:fld>
            <a:endParaRPr lang="en-US"/>
          </a:p>
        </p:txBody>
      </p:sp>
      <p:sp>
        <p:nvSpPr>
          <p:cNvPr id="5" name="Footer Placeholder 4">
            <a:extLst>
              <a:ext uri="{FF2B5EF4-FFF2-40B4-BE49-F238E27FC236}">
                <a16:creationId xmlns:a16="http://schemas.microsoft.com/office/drawing/2014/main" id="{CA7B46D4-7D04-A146-8FAF-B7D3717FF37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906EC8A-22B1-BD48-B2F8-8B55083EDE01}"/>
              </a:ext>
            </a:extLst>
          </p:cNvPr>
          <p:cNvSpPr>
            <a:spLocks noGrp="1"/>
          </p:cNvSpPr>
          <p:nvPr>
            <p:ph type="sldNum" sz="quarter" idx="12"/>
          </p:nvPr>
        </p:nvSpPr>
        <p:spPr/>
        <p:txBody>
          <a:bodyPr/>
          <a:lstStyle/>
          <a:p>
            <a:fld id="{C0F626DC-3C2A-D74B-AF18-11D33A5D1EB4}" type="slidenum">
              <a:rPr lang="en-US" smtClean="0"/>
              <a:t>‹#›</a:t>
            </a:fld>
            <a:endParaRPr lang="en-US"/>
          </a:p>
        </p:txBody>
      </p:sp>
    </p:spTree>
    <p:extLst>
      <p:ext uri="{BB962C8B-B14F-4D97-AF65-F5344CB8AC3E}">
        <p14:creationId xmlns:p14="http://schemas.microsoft.com/office/powerpoint/2010/main" val="7669574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C4B30F-8D38-5440-AA76-E735B1558BC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F2383C9-128C-8641-A47D-CE304ADDA77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C18B3A2B-0B3E-F345-B67F-7F4F23A5E37A}"/>
              </a:ext>
            </a:extLst>
          </p:cNvPr>
          <p:cNvSpPr>
            <a:spLocks noGrp="1"/>
          </p:cNvSpPr>
          <p:nvPr>
            <p:ph type="dt" sz="half" idx="10"/>
          </p:nvPr>
        </p:nvSpPr>
        <p:spPr/>
        <p:txBody>
          <a:bodyPr/>
          <a:lstStyle/>
          <a:p>
            <a:fld id="{549A11BD-841D-544E-B2C5-4B31CA79C4C0}" type="datetimeFigureOut">
              <a:rPr lang="en-US" smtClean="0"/>
              <a:t>3/19/18</a:t>
            </a:fld>
            <a:endParaRPr lang="en-US"/>
          </a:p>
        </p:txBody>
      </p:sp>
      <p:sp>
        <p:nvSpPr>
          <p:cNvPr id="5" name="Footer Placeholder 4">
            <a:extLst>
              <a:ext uri="{FF2B5EF4-FFF2-40B4-BE49-F238E27FC236}">
                <a16:creationId xmlns:a16="http://schemas.microsoft.com/office/drawing/2014/main" id="{B1E8F6CA-F4F3-6E46-8387-9CA2C66DF1D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4188355-8064-8A4D-B0EF-3BC0607D6AFB}"/>
              </a:ext>
            </a:extLst>
          </p:cNvPr>
          <p:cNvSpPr>
            <a:spLocks noGrp="1"/>
          </p:cNvSpPr>
          <p:nvPr>
            <p:ph type="sldNum" sz="quarter" idx="12"/>
          </p:nvPr>
        </p:nvSpPr>
        <p:spPr/>
        <p:txBody>
          <a:bodyPr/>
          <a:lstStyle/>
          <a:p>
            <a:fld id="{C0F626DC-3C2A-D74B-AF18-11D33A5D1EB4}" type="slidenum">
              <a:rPr lang="en-US" smtClean="0"/>
              <a:t>‹#›</a:t>
            </a:fld>
            <a:endParaRPr lang="en-US"/>
          </a:p>
        </p:txBody>
      </p:sp>
    </p:spTree>
    <p:extLst>
      <p:ext uri="{BB962C8B-B14F-4D97-AF65-F5344CB8AC3E}">
        <p14:creationId xmlns:p14="http://schemas.microsoft.com/office/powerpoint/2010/main" val="40460202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F8957A-0475-C14A-8AF4-A0C9B503D71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C75C13B-0725-9343-86C0-C6CCF1BDEA03}"/>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29B18CE-933A-8344-B94C-EA3A96E9F112}"/>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0BDCBC1-0295-3848-A335-4FC4F99D338A}"/>
              </a:ext>
            </a:extLst>
          </p:cNvPr>
          <p:cNvSpPr>
            <a:spLocks noGrp="1"/>
          </p:cNvSpPr>
          <p:nvPr>
            <p:ph type="dt" sz="half" idx="10"/>
          </p:nvPr>
        </p:nvSpPr>
        <p:spPr/>
        <p:txBody>
          <a:bodyPr/>
          <a:lstStyle/>
          <a:p>
            <a:fld id="{549A11BD-841D-544E-B2C5-4B31CA79C4C0}" type="datetimeFigureOut">
              <a:rPr lang="en-US" smtClean="0"/>
              <a:t>3/19/18</a:t>
            </a:fld>
            <a:endParaRPr lang="en-US"/>
          </a:p>
        </p:txBody>
      </p:sp>
      <p:sp>
        <p:nvSpPr>
          <p:cNvPr id="6" name="Footer Placeholder 5">
            <a:extLst>
              <a:ext uri="{FF2B5EF4-FFF2-40B4-BE49-F238E27FC236}">
                <a16:creationId xmlns:a16="http://schemas.microsoft.com/office/drawing/2014/main" id="{1A2B185D-E50D-3446-83FD-8D984AA90D5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74D2221-287D-D24A-A1F1-B3EBEC40D4D3}"/>
              </a:ext>
            </a:extLst>
          </p:cNvPr>
          <p:cNvSpPr>
            <a:spLocks noGrp="1"/>
          </p:cNvSpPr>
          <p:nvPr>
            <p:ph type="sldNum" sz="quarter" idx="12"/>
          </p:nvPr>
        </p:nvSpPr>
        <p:spPr/>
        <p:txBody>
          <a:bodyPr/>
          <a:lstStyle/>
          <a:p>
            <a:fld id="{C0F626DC-3C2A-D74B-AF18-11D33A5D1EB4}" type="slidenum">
              <a:rPr lang="en-US" smtClean="0"/>
              <a:t>‹#›</a:t>
            </a:fld>
            <a:endParaRPr lang="en-US"/>
          </a:p>
        </p:txBody>
      </p:sp>
    </p:spTree>
    <p:extLst>
      <p:ext uri="{BB962C8B-B14F-4D97-AF65-F5344CB8AC3E}">
        <p14:creationId xmlns:p14="http://schemas.microsoft.com/office/powerpoint/2010/main" val="12892671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04CAF6-10CB-1745-A063-FE9A5D32B0F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6700BA8-D8A5-7B46-952F-569CF820BA5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6F41F230-2100-F94C-84A9-FD920D79C4D7}"/>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F8F1676-20DB-CC44-93AA-F6C1D95B509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27D86319-16F0-9748-B2B9-E492901366CE}"/>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83CFCFB-7357-0342-9F66-722C67F14F1A}"/>
              </a:ext>
            </a:extLst>
          </p:cNvPr>
          <p:cNvSpPr>
            <a:spLocks noGrp="1"/>
          </p:cNvSpPr>
          <p:nvPr>
            <p:ph type="dt" sz="half" idx="10"/>
          </p:nvPr>
        </p:nvSpPr>
        <p:spPr/>
        <p:txBody>
          <a:bodyPr/>
          <a:lstStyle/>
          <a:p>
            <a:fld id="{549A11BD-841D-544E-B2C5-4B31CA79C4C0}" type="datetimeFigureOut">
              <a:rPr lang="en-US" smtClean="0"/>
              <a:t>3/19/18</a:t>
            </a:fld>
            <a:endParaRPr lang="en-US"/>
          </a:p>
        </p:txBody>
      </p:sp>
      <p:sp>
        <p:nvSpPr>
          <p:cNvPr id="8" name="Footer Placeholder 7">
            <a:extLst>
              <a:ext uri="{FF2B5EF4-FFF2-40B4-BE49-F238E27FC236}">
                <a16:creationId xmlns:a16="http://schemas.microsoft.com/office/drawing/2014/main" id="{24B88EC5-46EA-5749-929B-C3CE5296DE4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965FB19-7265-784A-9B45-EAB4C5DA0DD2}"/>
              </a:ext>
            </a:extLst>
          </p:cNvPr>
          <p:cNvSpPr>
            <a:spLocks noGrp="1"/>
          </p:cNvSpPr>
          <p:nvPr>
            <p:ph type="sldNum" sz="quarter" idx="12"/>
          </p:nvPr>
        </p:nvSpPr>
        <p:spPr/>
        <p:txBody>
          <a:bodyPr/>
          <a:lstStyle/>
          <a:p>
            <a:fld id="{C0F626DC-3C2A-D74B-AF18-11D33A5D1EB4}" type="slidenum">
              <a:rPr lang="en-US" smtClean="0"/>
              <a:t>‹#›</a:t>
            </a:fld>
            <a:endParaRPr lang="en-US"/>
          </a:p>
        </p:txBody>
      </p:sp>
    </p:spTree>
    <p:extLst>
      <p:ext uri="{BB962C8B-B14F-4D97-AF65-F5344CB8AC3E}">
        <p14:creationId xmlns:p14="http://schemas.microsoft.com/office/powerpoint/2010/main" val="40637939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55D7D6-C68E-1944-AC28-10BB8FE3C35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FB58995-8B1A-9C4C-8BC8-8F6AFBAA159D}"/>
              </a:ext>
            </a:extLst>
          </p:cNvPr>
          <p:cNvSpPr>
            <a:spLocks noGrp="1"/>
          </p:cNvSpPr>
          <p:nvPr>
            <p:ph type="dt" sz="half" idx="10"/>
          </p:nvPr>
        </p:nvSpPr>
        <p:spPr/>
        <p:txBody>
          <a:bodyPr/>
          <a:lstStyle/>
          <a:p>
            <a:fld id="{549A11BD-841D-544E-B2C5-4B31CA79C4C0}" type="datetimeFigureOut">
              <a:rPr lang="en-US" smtClean="0"/>
              <a:t>3/19/18</a:t>
            </a:fld>
            <a:endParaRPr lang="en-US"/>
          </a:p>
        </p:txBody>
      </p:sp>
      <p:sp>
        <p:nvSpPr>
          <p:cNvPr id="4" name="Footer Placeholder 3">
            <a:extLst>
              <a:ext uri="{FF2B5EF4-FFF2-40B4-BE49-F238E27FC236}">
                <a16:creationId xmlns:a16="http://schemas.microsoft.com/office/drawing/2014/main" id="{DBE025E9-7384-A742-9351-ADB9461122B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A163CA7-5F7D-F84F-BDF5-90AE27D86F88}"/>
              </a:ext>
            </a:extLst>
          </p:cNvPr>
          <p:cNvSpPr>
            <a:spLocks noGrp="1"/>
          </p:cNvSpPr>
          <p:nvPr>
            <p:ph type="sldNum" sz="quarter" idx="12"/>
          </p:nvPr>
        </p:nvSpPr>
        <p:spPr/>
        <p:txBody>
          <a:bodyPr/>
          <a:lstStyle/>
          <a:p>
            <a:fld id="{C0F626DC-3C2A-D74B-AF18-11D33A5D1EB4}" type="slidenum">
              <a:rPr lang="en-US" smtClean="0"/>
              <a:t>‹#›</a:t>
            </a:fld>
            <a:endParaRPr lang="en-US"/>
          </a:p>
        </p:txBody>
      </p:sp>
    </p:spTree>
    <p:extLst>
      <p:ext uri="{BB962C8B-B14F-4D97-AF65-F5344CB8AC3E}">
        <p14:creationId xmlns:p14="http://schemas.microsoft.com/office/powerpoint/2010/main" val="24928061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7457A2C-E176-8447-A736-3F77F2C8DD3B}"/>
              </a:ext>
            </a:extLst>
          </p:cNvPr>
          <p:cNvSpPr>
            <a:spLocks noGrp="1"/>
          </p:cNvSpPr>
          <p:nvPr>
            <p:ph type="dt" sz="half" idx="10"/>
          </p:nvPr>
        </p:nvSpPr>
        <p:spPr/>
        <p:txBody>
          <a:bodyPr/>
          <a:lstStyle/>
          <a:p>
            <a:fld id="{549A11BD-841D-544E-B2C5-4B31CA79C4C0}" type="datetimeFigureOut">
              <a:rPr lang="en-US" smtClean="0"/>
              <a:t>3/19/18</a:t>
            </a:fld>
            <a:endParaRPr lang="en-US"/>
          </a:p>
        </p:txBody>
      </p:sp>
      <p:sp>
        <p:nvSpPr>
          <p:cNvPr id="3" name="Footer Placeholder 2">
            <a:extLst>
              <a:ext uri="{FF2B5EF4-FFF2-40B4-BE49-F238E27FC236}">
                <a16:creationId xmlns:a16="http://schemas.microsoft.com/office/drawing/2014/main" id="{C24F6BBE-DE25-C148-8FA0-5A5DDFA340B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36A9B8A-8791-854C-B4E3-942EA1AE1468}"/>
              </a:ext>
            </a:extLst>
          </p:cNvPr>
          <p:cNvSpPr>
            <a:spLocks noGrp="1"/>
          </p:cNvSpPr>
          <p:nvPr>
            <p:ph type="sldNum" sz="quarter" idx="12"/>
          </p:nvPr>
        </p:nvSpPr>
        <p:spPr/>
        <p:txBody>
          <a:bodyPr/>
          <a:lstStyle/>
          <a:p>
            <a:fld id="{C0F626DC-3C2A-D74B-AF18-11D33A5D1EB4}" type="slidenum">
              <a:rPr lang="en-US" smtClean="0"/>
              <a:t>‹#›</a:t>
            </a:fld>
            <a:endParaRPr lang="en-US"/>
          </a:p>
        </p:txBody>
      </p:sp>
    </p:spTree>
    <p:extLst>
      <p:ext uri="{BB962C8B-B14F-4D97-AF65-F5344CB8AC3E}">
        <p14:creationId xmlns:p14="http://schemas.microsoft.com/office/powerpoint/2010/main" val="16317280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AEF52D-4B5A-EB44-A9FD-18E7EA0024E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DE845AE-0A93-7849-9986-EF9C7E6C2C1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10D0B40-3B58-A848-BB43-E3AA542AEE9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1B861C7B-E2BB-4D4E-AC53-8FBF34B94596}"/>
              </a:ext>
            </a:extLst>
          </p:cNvPr>
          <p:cNvSpPr>
            <a:spLocks noGrp="1"/>
          </p:cNvSpPr>
          <p:nvPr>
            <p:ph type="dt" sz="half" idx="10"/>
          </p:nvPr>
        </p:nvSpPr>
        <p:spPr/>
        <p:txBody>
          <a:bodyPr/>
          <a:lstStyle/>
          <a:p>
            <a:fld id="{549A11BD-841D-544E-B2C5-4B31CA79C4C0}" type="datetimeFigureOut">
              <a:rPr lang="en-US" smtClean="0"/>
              <a:t>3/19/18</a:t>
            </a:fld>
            <a:endParaRPr lang="en-US"/>
          </a:p>
        </p:txBody>
      </p:sp>
      <p:sp>
        <p:nvSpPr>
          <p:cNvPr id="6" name="Footer Placeholder 5">
            <a:extLst>
              <a:ext uri="{FF2B5EF4-FFF2-40B4-BE49-F238E27FC236}">
                <a16:creationId xmlns:a16="http://schemas.microsoft.com/office/drawing/2014/main" id="{85CDFAC2-D7CA-0649-A9E5-2765EA6E39E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AD57873-DF1E-ED45-8F47-96D83D07243E}"/>
              </a:ext>
            </a:extLst>
          </p:cNvPr>
          <p:cNvSpPr>
            <a:spLocks noGrp="1"/>
          </p:cNvSpPr>
          <p:nvPr>
            <p:ph type="sldNum" sz="quarter" idx="12"/>
          </p:nvPr>
        </p:nvSpPr>
        <p:spPr/>
        <p:txBody>
          <a:bodyPr/>
          <a:lstStyle/>
          <a:p>
            <a:fld id="{C0F626DC-3C2A-D74B-AF18-11D33A5D1EB4}" type="slidenum">
              <a:rPr lang="en-US" smtClean="0"/>
              <a:t>‹#›</a:t>
            </a:fld>
            <a:endParaRPr lang="en-US"/>
          </a:p>
        </p:txBody>
      </p:sp>
    </p:spTree>
    <p:extLst>
      <p:ext uri="{BB962C8B-B14F-4D97-AF65-F5344CB8AC3E}">
        <p14:creationId xmlns:p14="http://schemas.microsoft.com/office/powerpoint/2010/main" val="24548472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DBDD80-A572-5943-9EA8-9D80AA3308C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E2C357E-80EA-0240-949F-8AE30FB396F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EC118A2-05B8-F445-910B-B7ED9D03598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A90F8F41-227F-7043-B8F3-81671E23045F}"/>
              </a:ext>
            </a:extLst>
          </p:cNvPr>
          <p:cNvSpPr>
            <a:spLocks noGrp="1"/>
          </p:cNvSpPr>
          <p:nvPr>
            <p:ph type="dt" sz="half" idx="10"/>
          </p:nvPr>
        </p:nvSpPr>
        <p:spPr/>
        <p:txBody>
          <a:bodyPr/>
          <a:lstStyle/>
          <a:p>
            <a:fld id="{549A11BD-841D-544E-B2C5-4B31CA79C4C0}" type="datetimeFigureOut">
              <a:rPr lang="en-US" smtClean="0"/>
              <a:t>3/19/18</a:t>
            </a:fld>
            <a:endParaRPr lang="en-US"/>
          </a:p>
        </p:txBody>
      </p:sp>
      <p:sp>
        <p:nvSpPr>
          <p:cNvPr id="6" name="Footer Placeholder 5">
            <a:extLst>
              <a:ext uri="{FF2B5EF4-FFF2-40B4-BE49-F238E27FC236}">
                <a16:creationId xmlns:a16="http://schemas.microsoft.com/office/drawing/2014/main" id="{BC1841E2-E46B-0643-B604-B5D55CD26E7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CD35CD0-6181-BE4F-B59B-7D4CA2E0634E}"/>
              </a:ext>
            </a:extLst>
          </p:cNvPr>
          <p:cNvSpPr>
            <a:spLocks noGrp="1"/>
          </p:cNvSpPr>
          <p:nvPr>
            <p:ph type="sldNum" sz="quarter" idx="12"/>
          </p:nvPr>
        </p:nvSpPr>
        <p:spPr/>
        <p:txBody>
          <a:bodyPr/>
          <a:lstStyle/>
          <a:p>
            <a:fld id="{C0F626DC-3C2A-D74B-AF18-11D33A5D1EB4}" type="slidenum">
              <a:rPr lang="en-US" smtClean="0"/>
              <a:t>‹#›</a:t>
            </a:fld>
            <a:endParaRPr lang="en-US"/>
          </a:p>
        </p:txBody>
      </p:sp>
    </p:spTree>
    <p:extLst>
      <p:ext uri="{BB962C8B-B14F-4D97-AF65-F5344CB8AC3E}">
        <p14:creationId xmlns:p14="http://schemas.microsoft.com/office/powerpoint/2010/main" val="25413640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2ACD3-A757-654C-8CF7-15D162D9CAB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43DC35C-8EC4-E341-B296-EBF996733123}"/>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7FA82C8-6D8B-F241-96D3-EE6EB42DC682}"/>
              </a:ext>
            </a:extLst>
          </p:cNvPr>
          <p:cNvSpPr>
            <a:spLocks noGrp="1"/>
          </p:cNvSpPr>
          <p:nvPr>
            <p:ph type="dt" sz="half" idx="10"/>
          </p:nvPr>
        </p:nvSpPr>
        <p:spPr/>
        <p:txBody>
          <a:bodyPr/>
          <a:lstStyle/>
          <a:p>
            <a:fld id="{549A11BD-841D-544E-B2C5-4B31CA79C4C0}" type="datetimeFigureOut">
              <a:rPr lang="en-US" smtClean="0"/>
              <a:t>3/19/18</a:t>
            </a:fld>
            <a:endParaRPr lang="en-US"/>
          </a:p>
        </p:txBody>
      </p:sp>
      <p:sp>
        <p:nvSpPr>
          <p:cNvPr id="5" name="Footer Placeholder 4">
            <a:extLst>
              <a:ext uri="{FF2B5EF4-FFF2-40B4-BE49-F238E27FC236}">
                <a16:creationId xmlns:a16="http://schemas.microsoft.com/office/drawing/2014/main" id="{CAF8317D-4ABF-F149-963E-72EF6C6FC2E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2997774-B64F-7C44-97B3-17FC8419B16F}"/>
              </a:ext>
            </a:extLst>
          </p:cNvPr>
          <p:cNvSpPr>
            <a:spLocks noGrp="1"/>
          </p:cNvSpPr>
          <p:nvPr>
            <p:ph type="sldNum" sz="quarter" idx="12"/>
          </p:nvPr>
        </p:nvSpPr>
        <p:spPr/>
        <p:txBody>
          <a:bodyPr/>
          <a:lstStyle/>
          <a:p>
            <a:fld id="{C0F626DC-3C2A-D74B-AF18-11D33A5D1EB4}" type="slidenum">
              <a:rPr lang="en-US" smtClean="0"/>
              <a:t>‹#›</a:t>
            </a:fld>
            <a:endParaRPr lang="en-US"/>
          </a:p>
        </p:txBody>
      </p:sp>
    </p:spTree>
    <p:extLst>
      <p:ext uri="{BB962C8B-B14F-4D97-AF65-F5344CB8AC3E}">
        <p14:creationId xmlns:p14="http://schemas.microsoft.com/office/powerpoint/2010/main" val="24159042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3691FBA-8343-FD42-9E19-13191685A2E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3288288-33A5-1640-B728-109602939A2C}"/>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50B35C7-7C95-0146-98E9-021EF2A8F320}"/>
              </a:ext>
            </a:extLst>
          </p:cNvPr>
          <p:cNvSpPr>
            <a:spLocks noGrp="1"/>
          </p:cNvSpPr>
          <p:nvPr>
            <p:ph type="dt" sz="half" idx="10"/>
          </p:nvPr>
        </p:nvSpPr>
        <p:spPr/>
        <p:txBody>
          <a:bodyPr/>
          <a:lstStyle/>
          <a:p>
            <a:fld id="{549A11BD-841D-544E-B2C5-4B31CA79C4C0}" type="datetimeFigureOut">
              <a:rPr lang="en-US" smtClean="0"/>
              <a:t>3/19/18</a:t>
            </a:fld>
            <a:endParaRPr lang="en-US"/>
          </a:p>
        </p:txBody>
      </p:sp>
      <p:sp>
        <p:nvSpPr>
          <p:cNvPr id="5" name="Footer Placeholder 4">
            <a:extLst>
              <a:ext uri="{FF2B5EF4-FFF2-40B4-BE49-F238E27FC236}">
                <a16:creationId xmlns:a16="http://schemas.microsoft.com/office/drawing/2014/main" id="{4276DF02-FF81-9342-9547-6A98712466A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9E3BC4A-2936-3045-898C-16D131ED250F}"/>
              </a:ext>
            </a:extLst>
          </p:cNvPr>
          <p:cNvSpPr>
            <a:spLocks noGrp="1"/>
          </p:cNvSpPr>
          <p:nvPr>
            <p:ph type="sldNum" sz="quarter" idx="12"/>
          </p:nvPr>
        </p:nvSpPr>
        <p:spPr/>
        <p:txBody>
          <a:bodyPr/>
          <a:lstStyle/>
          <a:p>
            <a:fld id="{C0F626DC-3C2A-D74B-AF18-11D33A5D1EB4}" type="slidenum">
              <a:rPr lang="en-US" smtClean="0"/>
              <a:t>‹#›</a:t>
            </a:fld>
            <a:endParaRPr lang="en-US"/>
          </a:p>
        </p:txBody>
      </p:sp>
    </p:spTree>
    <p:extLst>
      <p:ext uri="{BB962C8B-B14F-4D97-AF65-F5344CB8AC3E}">
        <p14:creationId xmlns:p14="http://schemas.microsoft.com/office/powerpoint/2010/main" val="19614090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CC0B778-CB75-FE42-97F2-FEE5272CAFE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7229E20-2C16-9A45-9DA4-7EA7BC43707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FF9FEA7-46A7-EC4D-AEDC-DBC7FB4ADCD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49A11BD-841D-544E-B2C5-4B31CA79C4C0}" type="datetimeFigureOut">
              <a:rPr lang="en-US" smtClean="0"/>
              <a:t>3/19/18</a:t>
            </a:fld>
            <a:endParaRPr lang="en-US"/>
          </a:p>
        </p:txBody>
      </p:sp>
      <p:sp>
        <p:nvSpPr>
          <p:cNvPr id="5" name="Footer Placeholder 4">
            <a:extLst>
              <a:ext uri="{FF2B5EF4-FFF2-40B4-BE49-F238E27FC236}">
                <a16:creationId xmlns:a16="http://schemas.microsoft.com/office/drawing/2014/main" id="{9A11F0DB-1AD5-C940-A924-38EB7E5B358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A613F2C-AACA-7741-83E6-74B1B66D974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0F626DC-3C2A-D74B-AF18-11D33A5D1EB4}" type="slidenum">
              <a:rPr lang="en-US" smtClean="0"/>
              <a:t>‹#›</a:t>
            </a:fld>
            <a:endParaRPr lang="en-US"/>
          </a:p>
        </p:txBody>
      </p:sp>
    </p:spTree>
    <p:extLst>
      <p:ext uri="{BB962C8B-B14F-4D97-AF65-F5344CB8AC3E}">
        <p14:creationId xmlns:p14="http://schemas.microsoft.com/office/powerpoint/2010/main" val="56272702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3.sv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tiff"/><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042A115-3C20-244C-9FC6-1BAF2A3A3723}"/>
              </a:ext>
            </a:extLst>
          </p:cNvPr>
          <p:cNvPicPr>
            <a:picLocks noChangeAspect="1"/>
          </p:cNvPicPr>
          <p:nvPr/>
        </p:nvPicPr>
        <p:blipFill>
          <a:blip r:embed="rId2">
            <a:alphaModFix amt="51000"/>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79FF280C-9D35-EA4F-A949-76FAFB158D75}"/>
              </a:ext>
            </a:extLst>
          </p:cNvPr>
          <p:cNvSpPr>
            <a:spLocks noGrp="1"/>
          </p:cNvSpPr>
          <p:nvPr>
            <p:ph type="ctrTitle"/>
          </p:nvPr>
        </p:nvSpPr>
        <p:spPr/>
        <p:txBody>
          <a:bodyPr>
            <a:normAutofit/>
          </a:bodyPr>
          <a:lstStyle/>
          <a:p>
            <a:r>
              <a:rPr lang="en-US" sz="7200" b="1" dirty="0"/>
              <a:t>Blood Pressure Readings</a:t>
            </a:r>
          </a:p>
        </p:txBody>
      </p:sp>
      <p:sp>
        <p:nvSpPr>
          <p:cNvPr id="3" name="Subtitle 2">
            <a:extLst>
              <a:ext uri="{FF2B5EF4-FFF2-40B4-BE49-F238E27FC236}">
                <a16:creationId xmlns:a16="http://schemas.microsoft.com/office/drawing/2014/main" id="{6DCF21BD-9A69-6247-A0F5-76768B0FA833}"/>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34726715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64C22B4-5AD4-5B4E-BB92-A8B68CB2288F}"/>
              </a:ext>
            </a:extLst>
          </p:cNvPr>
          <p:cNvPicPr>
            <a:picLocks noChangeAspect="1"/>
          </p:cNvPicPr>
          <p:nvPr/>
        </p:nvPicPr>
        <p:blipFill>
          <a:blip r:embed="rId3">
            <a:alphaModFix amt="21000"/>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770283E9-DE14-E34B-8E49-7AF690868FCA}"/>
              </a:ext>
            </a:extLst>
          </p:cNvPr>
          <p:cNvSpPr>
            <a:spLocks noGrp="1"/>
          </p:cNvSpPr>
          <p:nvPr>
            <p:ph type="title"/>
          </p:nvPr>
        </p:nvSpPr>
        <p:spPr/>
        <p:txBody>
          <a:bodyPr>
            <a:normAutofit/>
          </a:bodyPr>
          <a:lstStyle/>
          <a:p>
            <a:r>
              <a:rPr lang="en-US" b="1" dirty="0"/>
              <a:t>Content</a:t>
            </a:r>
          </a:p>
        </p:txBody>
      </p:sp>
      <p:sp>
        <p:nvSpPr>
          <p:cNvPr id="3" name="Content Placeholder 2">
            <a:extLst>
              <a:ext uri="{FF2B5EF4-FFF2-40B4-BE49-F238E27FC236}">
                <a16:creationId xmlns:a16="http://schemas.microsoft.com/office/drawing/2014/main" id="{98299D73-3D7C-A34B-B6CA-245591CCCFE8}"/>
              </a:ext>
            </a:extLst>
          </p:cNvPr>
          <p:cNvSpPr>
            <a:spLocks noGrp="1"/>
          </p:cNvSpPr>
          <p:nvPr>
            <p:ph idx="1"/>
          </p:nvPr>
        </p:nvSpPr>
        <p:spPr/>
        <p:txBody>
          <a:bodyPr>
            <a:normAutofit/>
          </a:bodyPr>
          <a:lstStyle/>
          <a:p>
            <a:pPr>
              <a:lnSpc>
                <a:spcPct val="120000"/>
              </a:lnSpc>
            </a:pPr>
            <a:r>
              <a:rPr lang="en-GB" sz="3200" dirty="0"/>
              <a:t>Project topic</a:t>
            </a:r>
          </a:p>
          <a:p>
            <a:pPr>
              <a:lnSpc>
                <a:spcPct val="120000"/>
              </a:lnSpc>
            </a:pPr>
            <a:r>
              <a:rPr lang="en-GB" sz="3200" dirty="0"/>
              <a:t>The architecture of the system</a:t>
            </a:r>
            <a:r>
              <a:rPr lang="en-GB" sz="3200" dirty="0">
                <a:effectLst/>
              </a:rPr>
              <a:t> </a:t>
            </a:r>
          </a:p>
          <a:p>
            <a:pPr>
              <a:lnSpc>
                <a:spcPct val="120000"/>
              </a:lnSpc>
            </a:pPr>
            <a:r>
              <a:rPr lang="en-GB" sz="3200" dirty="0"/>
              <a:t>The design of the individual subsystems</a:t>
            </a:r>
          </a:p>
          <a:p>
            <a:pPr>
              <a:lnSpc>
                <a:spcPct val="120000"/>
              </a:lnSpc>
            </a:pPr>
            <a:r>
              <a:rPr lang="en-GB" sz="3200" dirty="0"/>
              <a:t>Evaluation</a:t>
            </a:r>
          </a:p>
          <a:p>
            <a:pPr marL="0" indent="0">
              <a:buNone/>
            </a:pPr>
            <a:endParaRPr lang="en-GB" sz="3200" dirty="0"/>
          </a:p>
          <a:p>
            <a:endParaRPr lang="en-US" sz="3200" dirty="0"/>
          </a:p>
        </p:txBody>
      </p:sp>
    </p:spTree>
    <p:extLst>
      <p:ext uri="{BB962C8B-B14F-4D97-AF65-F5344CB8AC3E}">
        <p14:creationId xmlns:p14="http://schemas.microsoft.com/office/powerpoint/2010/main" val="74448619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E95E83A-F6B9-7D4D-833B-FA50F34EBE52}"/>
              </a:ext>
            </a:extLst>
          </p:cNvPr>
          <p:cNvPicPr>
            <a:picLocks noChangeAspect="1"/>
          </p:cNvPicPr>
          <p:nvPr/>
        </p:nvPicPr>
        <p:blipFill>
          <a:blip r:embed="rId3">
            <a:alphaModFix amt="21000"/>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F47E3517-1193-6E4A-BE08-1CBF378D747C}"/>
              </a:ext>
            </a:extLst>
          </p:cNvPr>
          <p:cNvSpPr>
            <a:spLocks noGrp="1"/>
          </p:cNvSpPr>
          <p:nvPr>
            <p:ph type="title"/>
          </p:nvPr>
        </p:nvSpPr>
        <p:spPr/>
        <p:txBody>
          <a:bodyPr/>
          <a:lstStyle/>
          <a:p>
            <a:r>
              <a:rPr lang="en-GB" b="1" dirty="0"/>
              <a:t>Medical Desktop Application</a:t>
            </a:r>
            <a:endParaRPr lang="en-US" b="1" dirty="0"/>
          </a:p>
        </p:txBody>
      </p:sp>
      <p:sp>
        <p:nvSpPr>
          <p:cNvPr id="3" name="Content Placeholder 2">
            <a:extLst>
              <a:ext uri="{FF2B5EF4-FFF2-40B4-BE49-F238E27FC236}">
                <a16:creationId xmlns:a16="http://schemas.microsoft.com/office/drawing/2014/main" id="{D7EABC7F-B0CD-6649-8304-DAFA9A857EE2}"/>
              </a:ext>
            </a:extLst>
          </p:cNvPr>
          <p:cNvSpPr>
            <a:spLocks noGrp="1"/>
          </p:cNvSpPr>
          <p:nvPr>
            <p:ph idx="1"/>
          </p:nvPr>
        </p:nvSpPr>
        <p:spPr>
          <a:xfrm>
            <a:off x="838200" y="2506662"/>
            <a:ext cx="10515600" cy="4351338"/>
          </a:xfrm>
        </p:spPr>
        <p:txBody>
          <a:bodyPr>
            <a:normAutofit/>
          </a:bodyPr>
          <a:lstStyle/>
          <a:p>
            <a:r>
              <a:rPr lang="en-GB" sz="3200" dirty="0"/>
              <a:t>40% of the world's population has High Blood Pressure </a:t>
            </a:r>
          </a:p>
          <a:p>
            <a:pPr marL="0" indent="0">
              <a:buNone/>
            </a:pPr>
            <a:endParaRPr lang="en-US" sz="3200" dirty="0"/>
          </a:p>
          <a:p>
            <a:r>
              <a:rPr lang="en-US" sz="3200" dirty="0"/>
              <a:t>Efficient way for doctor to obtain patient BP readings</a:t>
            </a:r>
          </a:p>
          <a:p>
            <a:endParaRPr lang="en-US" sz="3200" dirty="0"/>
          </a:p>
          <a:p>
            <a:r>
              <a:rPr lang="en-US" sz="3200" dirty="0"/>
              <a:t>Features</a:t>
            </a:r>
          </a:p>
          <a:p>
            <a:endParaRPr lang="en-US" sz="3200" dirty="0"/>
          </a:p>
        </p:txBody>
      </p:sp>
    </p:spTree>
    <p:extLst>
      <p:ext uri="{BB962C8B-B14F-4D97-AF65-F5344CB8AC3E}">
        <p14:creationId xmlns:p14="http://schemas.microsoft.com/office/powerpoint/2010/main" val="12164321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B21C36E-6C60-7C48-A7D6-96067712C5EB}"/>
              </a:ext>
            </a:extLst>
          </p:cNvPr>
          <p:cNvPicPr>
            <a:picLocks noChangeAspect="1"/>
          </p:cNvPicPr>
          <p:nvPr/>
        </p:nvPicPr>
        <p:blipFill>
          <a:blip r:embed="rId3">
            <a:alphaModFix amt="21000"/>
          </a:blip>
          <a:stretch>
            <a:fillRect/>
          </a:stretch>
        </p:blipFill>
        <p:spPr>
          <a:xfrm>
            <a:off x="0" y="25454"/>
            <a:ext cx="12192000" cy="6858000"/>
          </a:xfrm>
          <a:prstGeom prst="rect">
            <a:avLst/>
          </a:prstGeom>
        </p:spPr>
      </p:pic>
      <p:sp>
        <p:nvSpPr>
          <p:cNvPr id="2" name="Title 1">
            <a:extLst>
              <a:ext uri="{FF2B5EF4-FFF2-40B4-BE49-F238E27FC236}">
                <a16:creationId xmlns:a16="http://schemas.microsoft.com/office/drawing/2014/main" id="{02AB21E0-48C3-9E41-88ED-71A55AC8637C}"/>
              </a:ext>
            </a:extLst>
          </p:cNvPr>
          <p:cNvSpPr>
            <a:spLocks noGrp="1"/>
          </p:cNvSpPr>
          <p:nvPr>
            <p:ph type="title"/>
          </p:nvPr>
        </p:nvSpPr>
        <p:spPr/>
        <p:txBody>
          <a:bodyPr/>
          <a:lstStyle/>
          <a:p>
            <a:r>
              <a:rPr lang="en-GB" b="1" dirty="0"/>
              <a:t>The architecture of the system</a:t>
            </a:r>
            <a:r>
              <a:rPr lang="en-GB" b="1" dirty="0">
                <a:effectLst/>
              </a:rPr>
              <a:t> </a:t>
            </a:r>
            <a:endParaRPr lang="en-US" b="1" dirty="0"/>
          </a:p>
        </p:txBody>
      </p:sp>
      <p:sp>
        <p:nvSpPr>
          <p:cNvPr id="3" name="Content Placeholder 2">
            <a:extLst>
              <a:ext uri="{FF2B5EF4-FFF2-40B4-BE49-F238E27FC236}">
                <a16:creationId xmlns:a16="http://schemas.microsoft.com/office/drawing/2014/main" id="{BF633170-3FF6-F64D-B4FB-7E39E2A6AA52}"/>
              </a:ext>
            </a:extLst>
          </p:cNvPr>
          <p:cNvSpPr>
            <a:spLocks noGrp="1"/>
          </p:cNvSpPr>
          <p:nvPr>
            <p:ph idx="1"/>
          </p:nvPr>
        </p:nvSpPr>
        <p:spPr/>
        <p:txBody>
          <a:bodyPr>
            <a:normAutofit/>
          </a:bodyPr>
          <a:lstStyle/>
          <a:p>
            <a:r>
              <a:rPr lang="en-GB" sz="3200" dirty="0"/>
              <a:t>Our blood pressure submission system exists in a three-tier architecture</a:t>
            </a:r>
            <a:r>
              <a:rPr lang="en-GB" sz="3200" dirty="0">
                <a:effectLst/>
              </a:rPr>
              <a:t> </a:t>
            </a:r>
          </a:p>
          <a:p>
            <a:endParaRPr lang="en-GB" sz="3200" dirty="0"/>
          </a:p>
        </p:txBody>
      </p:sp>
      <p:sp>
        <p:nvSpPr>
          <p:cNvPr id="5" name="Flowchart: Magnetic Disk 4">
            <a:extLst>
              <a:ext uri="{FF2B5EF4-FFF2-40B4-BE49-F238E27FC236}">
                <a16:creationId xmlns:a16="http://schemas.microsoft.com/office/drawing/2014/main" id="{0347414E-EEF7-D740-83C5-C25D7A93825E}"/>
              </a:ext>
            </a:extLst>
          </p:cNvPr>
          <p:cNvSpPr/>
          <p:nvPr/>
        </p:nvSpPr>
        <p:spPr>
          <a:xfrm>
            <a:off x="513687" y="3563253"/>
            <a:ext cx="1281953" cy="1228165"/>
          </a:xfrm>
          <a:prstGeom prst="flowChartMagneticDisk">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Database</a:t>
            </a:r>
          </a:p>
        </p:txBody>
      </p:sp>
      <p:sp>
        <p:nvSpPr>
          <p:cNvPr id="6" name="Flowchart: Process 5">
            <a:extLst>
              <a:ext uri="{FF2B5EF4-FFF2-40B4-BE49-F238E27FC236}">
                <a16:creationId xmlns:a16="http://schemas.microsoft.com/office/drawing/2014/main" id="{85F6B5A2-3BBC-424C-8B53-014250D783E8}"/>
              </a:ext>
            </a:extLst>
          </p:cNvPr>
          <p:cNvSpPr/>
          <p:nvPr/>
        </p:nvSpPr>
        <p:spPr>
          <a:xfrm>
            <a:off x="2522660" y="2763983"/>
            <a:ext cx="3636551" cy="3238498"/>
          </a:xfrm>
          <a:prstGeom prst="flowChartProcess">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p:sp>
        <p:nvSpPr>
          <p:cNvPr id="7" name="Flowchart: Process 22">
            <a:extLst>
              <a:ext uri="{FF2B5EF4-FFF2-40B4-BE49-F238E27FC236}">
                <a16:creationId xmlns:a16="http://schemas.microsoft.com/office/drawing/2014/main" id="{3FE3649C-227E-BB4A-B71E-A9BB12269651}"/>
              </a:ext>
            </a:extLst>
          </p:cNvPr>
          <p:cNvSpPr/>
          <p:nvPr/>
        </p:nvSpPr>
        <p:spPr>
          <a:xfrm>
            <a:off x="2763145" y="3063300"/>
            <a:ext cx="1281953" cy="581163"/>
          </a:xfrm>
          <a:prstGeom prst="flowChartProcess">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Server</a:t>
            </a:r>
          </a:p>
          <a:p>
            <a:pPr algn="ctr"/>
            <a:r>
              <a:rPr lang="en-GB" dirty="0">
                <a:solidFill>
                  <a:schemeClr val="tx1"/>
                </a:solidFill>
              </a:rPr>
              <a:t>Thread</a:t>
            </a:r>
          </a:p>
        </p:txBody>
      </p:sp>
      <p:sp>
        <p:nvSpPr>
          <p:cNvPr id="8" name="Flowchart: Process 32">
            <a:extLst>
              <a:ext uri="{FF2B5EF4-FFF2-40B4-BE49-F238E27FC236}">
                <a16:creationId xmlns:a16="http://schemas.microsoft.com/office/drawing/2014/main" id="{8193E01E-9420-2E4B-B015-B27B818FE8E4}"/>
              </a:ext>
            </a:extLst>
          </p:cNvPr>
          <p:cNvSpPr/>
          <p:nvPr/>
        </p:nvSpPr>
        <p:spPr>
          <a:xfrm>
            <a:off x="2773652" y="4910190"/>
            <a:ext cx="1281953" cy="581163"/>
          </a:xfrm>
          <a:prstGeom prst="flowChartProcess">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Server</a:t>
            </a:r>
          </a:p>
          <a:p>
            <a:pPr algn="ctr"/>
            <a:r>
              <a:rPr lang="en-GB" dirty="0">
                <a:solidFill>
                  <a:schemeClr val="tx1"/>
                </a:solidFill>
              </a:rPr>
              <a:t>Thread</a:t>
            </a:r>
          </a:p>
        </p:txBody>
      </p:sp>
      <p:sp>
        <p:nvSpPr>
          <p:cNvPr id="9" name="Flowchart: Process 33">
            <a:extLst>
              <a:ext uri="{FF2B5EF4-FFF2-40B4-BE49-F238E27FC236}">
                <a16:creationId xmlns:a16="http://schemas.microsoft.com/office/drawing/2014/main" id="{89E6807E-FB26-0D43-96A5-A50F8690B589}"/>
              </a:ext>
            </a:extLst>
          </p:cNvPr>
          <p:cNvSpPr/>
          <p:nvPr/>
        </p:nvSpPr>
        <p:spPr>
          <a:xfrm>
            <a:off x="2773652" y="3963242"/>
            <a:ext cx="1281953" cy="581163"/>
          </a:xfrm>
          <a:prstGeom prst="flowChartProcess">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Server</a:t>
            </a:r>
          </a:p>
          <a:p>
            <a:pPr algn="ctr"/>
            <a:r>
              <a:rPr lang="en-GB" dirty="0">
                <a:solidFill>
                  <a:schemeClr val="tx1"/>
                </a:solidFill>
              </a:rPr>
              <a:t>Thread</a:t>
            </a:r>
          </a:p>
        </p:txBody>
      </p:sp>
      <p:sp>
        <p:nvSpPr>
          <p:cNvPr id="10" name="Flowchart: Process 34">
            <a:extLst>
              <a:ext uri="{FF2B5EF4-FFF2-40B4-BE49-F238E27FC236}">
                <a16:creationId xmlns:a16="http://schemas.microsoft.com/office/drawing/2014/main" id="{A9574B29-9CA5-4D48-8361-241F01F229A5}"/>
              </a:ext>
            </a:extLst>
          </p:cNvPr>
          <p:cNvSpPr/>
          <p:nvPr/>
        </p:nvSpPr>
        <p:spPr>
          <a:xfrm>
            <a:off x="4626520" y="3062300"/>
            <a:ext cx="1281953" cy="581163"/>
          </a:xfrm>
          <a:prstGeom prst="flowChartProcess">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Server</a:t>
            </a:r>
          </a:p>
          <a:p>
            <a:pPr algn="ctr"/>
            <a:r>
              <a:rPr lang="en-GB" dirty="0">
                <a:solidFill>
                  <a:schemeClr val="tx1"/>
                </a:solidFill>
              </a:rPr>
              <a:t>Socket</a:t>
            </a:r>
          </a:p>
        </p:txBody>
      </p:sp>
      <p:sp>
        <p:nvSpPr>
          <p:cNvPr id="11" name="Flowchart: Process 35">
            <a:extLst>
              <a:ext uri="{FF2B5EF4-FFF2-40B4-BE49-F238E27FC236}">
                <a16:creationId xmlns:a16="http://schemas.microsoft.com/office/drawing/2014/main" id="{6BC5E2A9-48A4-2242-995A-7C790B1F7F8E}"/>
              </a:ext>
            </a:extLst>
          </p:cNvPr>
          <p:cNvSpPr/>
          <p:nvPr/>
        </p:nvSpPr>
        <p:spPr>
          <a:xfrm>
            <a:off x="4626520" y="3962274"/>
            <a:ext cx="1281953" cy="581163"/>
          </a:xfrm>
          <a:prstGeom prst="flowChartProcess">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Server</a:t>
            </a:r>
          </a:p>
          <a:p>
            <a:pPr algn="ctr"/>
            <a:r>
              <a:rPr lang="en-GB" dirty="0">
                <a:solidFill>
                  <a:schemeClr val="tx1"/>
                </a:solidFill>
              </a:rPr>
              <a:t>Socket</a:t>
            </a:r>
          </a:p>
        </p:txBody>
      </p:sp>
      <p:sp>
        <p:nvSpPr>
          <p:cNvPr id="12" name="Flowchart: Process 36">
            <a:extLst>
              <a:ext uri="{FF2B5EF4-FFF2-40B4-BE49-F238E27FC236}">
                <a16:creationId xmlns:a16="http://schemas.microsoft.com/office/drawing/2014/main" id="{5AA83E99-547E-DA40-80C2-DC070E908DBB}"/>
              </a:ext>
            </a:extLst>
          </p:cNvPr>
          <p:cNvSpPr/>
          <p:nvPr/>
        </p:nvSpPr>
        <p:spPr>
          <a:xfrm>
            <a:off x="4626519" y="4910189"/>
            <a:ext cx="1281953" cy="581163"/>
          </a:xfrm>
          <a:prstGeom prst="flowChartProcess">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Server</a:t>
            </a:r>
          </a:p>
          <a:p>
            <a:pPr algn="ctr"/>
            <a:r>
              <a:rPr lang="en-GB" dirty="0">
                <a:solidFill>
                  <a:schemeClr val="tx1"/>
                </a:solidFill>
              </a:rPr>
              <a:t>Socket</a:t>
            </a:r>
          </a:p>
        </p:txBody>
      </p:sp>
      <p:pic>
        <p:nvPicPr>
          <p:cNvPr id="13" name="Graphic 12" descr="Line Arrow: Straight">
            <a:extLst>
              <a:ext uri="{FF2B5EF4-FFF2-40B4-BE49-F238E27FC236}">
                <a16:creationId xmlns:a16="http://schemas.microsoft.com/office/drawing/2014/main" id="{9D5C78BA-0782-724A-83A2-E7A20F9688E5}"/>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rot="19714378">
            <a:off x="1763988" y="3323320"/>
            <a:ext cx="1060811" cy="556086"/>
          </a:xfrm>
          <a:prstGeom prst="rect">
            <a:avLst/>
          </a:prstGeom>
        </p:spPr>
      </p:pic>
      <p:pic>
        <p:nvPicPr>
          <p:cNvPr id="14" name="Graphic 13" descr="Line Arrow: Straight">
            <a:extLst>
              <a:ext uri="{FF2B5EF4-FFF2-40B4-BE49-F238E27FC236}">
                <a16:creationId xmlns:a16="http://schemas.microsoft.com/office/drawing/2014/main" id="{1B8F2D67-3EA5-FC46-988E-C70D91EE78BD}"/>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rot="8928015">
            <a:off x="1740046" y="3153038"/>
            <a:ext cx="1060811" cy="556086"/>
          </a:xfrm>
          <a:prstGeom prst="rect">
            <a:avLst/>
          </a:prstGeom>
        </p:spPr>
      </p:pic>
      <p:pic>
        <p:nvPicPr>
          <p:cNvPr id="15" name="Graphic 14" descr="Line Arrow: Straight">
            <a:extLst>
              <a:ext uri="{FF2B5EF4-FFF2-40B4-BE49-F238E27FC236}">
                <a16:creationId xmlns:a16="http://schemas.microsoft.com/office/drawing/2014/main" id="{33B02E0F-1D99-A747-9B13-A1E553D89E28}"/>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rot="2237391">
            <a:off x="1709159" y="4670759"/>
            <a:ext cx="1060811" cy="556086"/>
          </a:xfrm>
          <a:prstGeom prst="rect">
            <a:avLst/>
          </a:prstGeom>
        </p:spPr>
      </p:pic>
      <p:pic>
        <p:nvPicPr>
          <p:cNvPr id="16" name="Graphic 15" descr="Line Arrow: Straight">
            <a:extLst>
              <a:ext uri="{FF2B5EF4-FFF2-40B4-BE49-F238E27FC236}">
                <a16:creationId xmlns:a16="http://schemas.microsoft.com/office/drawing/2014/main" id="{E5DA15B1-B7D5-6241-BF44-51CE25382590}"/>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rot="13051028">
            <a:off x="1783078" y="4532699"/>
            <a:ext cx="1060811" cy="556086"/>
          </a:xfrm>
          <a:prstGeom prst="rect">
            <a:avLst/>
          </a:prstGeom>
        </p:spPr>
      </p:pic>
      <p:pic>
        <p:nvPicPr>
          <p:cNvPr id="17" name="Graphic 16" descr="Line Arrow: Straight">
            <a:extLst>
              <a:ext uri="{FF2B5EF4-FFF2-40B4-BE49-F238E27FC236}">
                <a16:creationId xmlns:a16="http://schemas.microsoft.com/office/drawing/2014/main" id="{24E1480F-4C90-FE41-BF30-A412A6922848}"/>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710105" y="4033975"/>
            <a:ext cx="1060811" cy="556086"/>
          </a:xfrm>
          <a:prstGeom prst="rect">
            <a:avLst/>
          </a:prstGeom>
        </p:spPr>
      </p:pic>
      <p:pic>
        <p:nvPicPr>
          <p:cNvPr id="18" name="Graphic 17" descr="Line Arrow: Straight">
            <a:extLst>
              <a:ext uri="{FF2B5EF4-FFF2-40B4-BE49-F238E27FC236}">
                <a16:creationId xmlns:a16="http://schemas.microsoft.com/office/drawing/2014/main" id="{DF4000BD-74B5-9A40-9CFC-A92415D4567C}"/>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rot="10813637">
            <a:off x="1784024" y="3895915"/>
            <a:ext cx="1060811" cy="556086"/>
          </a:xfrm>
          <a:prstGeom prst="rect">
            <a:avLst/>
          </a:prstGeom>
        </p:spPr>
      </p:pic>
      <p:pic>
        <p:nvPicPr>
          <p:cNvPr id="19" name="Graphic 18" descr="Line Arrow: Straight">
            <a:extLst>
              <a:ext uri="{FF2B5EF4-FFF2-40B4-BE49-F238E27FC236}">
                <a16:creationId xmlns:a16="http://schemas.microsoft.com/office/drawing/2014/main" id="{13728132-9820-9B41-B515-22D2997CC105}"/>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027217" y="3145085"/>
            <a:ext cx="566268" cy="556086"/>
          </a:xfrm>
          <a:prstGeom prst="rect">
            <a:avLst/>
          </a:prstGeom>
        </p:spPr>
      </p:pic>
      <p:pic>
        <p:nvPicPr>
          <p:cNvPr id="20" name="Graphic 19" descr="Line Arrow: Straight">
            <a:extLst>
              <a:ext uri="{FF2B5EF4-FFF2-40B4-BE49-F238E27FC236}">
                <a16:creationId xmlns:a16="http://schemas.microsoft.com/office/drawing/2014/main" id="{9744ACFE-FCFD-C24B-9607-765BD4CC0250}"/>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rot="10813637">
            <a:off x="4101136" y="3006045"/>
            <a:ext cx="566268" cy="556086"/>
          </a:xfrm>
          <a:prstGeom prst="rect">
            <a:avLst/>
          </a:prstGeom>
        </p:spPr>
      </p:pic>
      <p:pic>
        <p:nvPicPr>
          <p:cNvPr id="21" name="Graphic 20" descr="Line Arrow: Straight">
            <a:extLst>
              <a:ext uri="{FF2B5EF4-FFF2-40B4-BE49-F238E27FC236}">
                <a16:creationId xmlns:a16="http://schemas.microsoft.com/office/drawing/2014/main" id="{21B38691-30C8-EB4D-A8D1-8FDAE69D8AEF}"/>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027216" y="4041010"/>
            <a:ext cx="566268" cy="556086"/>
          </a:xfrm>
          <a:prstGeom prst="rect">
            <a:avLst/>
          </a:prstGeom>
        </p:spPr>
      </p:pic>
      <p:pic>
        <p:nvPicPr>
          <p:cNvPr id="22" name="Graphic 21" descr="Line Arrow: Straight">
            <a:extLst>
              <a:ext uri="{FF2B5EF4-FFF2-40B4-BE49-F238E27FC236}">
                <a16:creationId xmlns:a16="http://schemas.microsoft.com/office/drawing/2014/main" id="{D7B8E0C3-5917-C64B-B86F-A01260994976}"/>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rot="10813637">
            <a:off x="4101135" y="3901970"/>
            <a:ext cx="566268" cy="556086"/>
          </a:xfrm>
          <a:prstGeom prst="rect">
            <a:avLst/>
          </a:prstGeom>
        </p:spPr>
      </p:pic>
      <p:pic>
        <p:nvPicPr>
          <p:cNvPr id="23" name="Graphic 22" descr="Line Arrow: Straight">
            <a:extLst>
              <a:ext uri="{FF2B5EF4-FFF2-40B4-BE49-F238E27FC236}">
                <a16:creationId xmlns:a16="http://schemas.microsoft.com/office/drawing/2014/main" id="{46828176-1452-2F48-856C-471422A6251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040380" y="4995029"/>
            <a:ext cx="566268" cy="556086"/>
          </a:xfrm>
          <a:prstGeom prst="rect">
            <a:avLst/>
          </a:prstGeom>
        </p:spPr>
      </p:pic>
      <p:pic>
        <p:nvPicPr>
          <p:cNvPr id="24" name="Graphic 23" descr="Line Arrow: Straight">
            <a:extLst>
              <a:ext uri="{FF2B5EF4-FFF2-40B4-BE49-F238E27FC236}">
                <a16:creationId xmlns:a16="http://schemas.microsoft.com/office/drawing/2014/main" id="{DB2EF546-0EE8-394C-8358-599E93E7B0CB}"/>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rot="10813637">
            <a:off x="4114299" y="4855989"/>
            <a:ext cx="566268" cy="556086"/>
          </a:xfrm>
          <a:prstGeom prst="rect">
            <a:avLst/>
          </a:prstGeom>
        </p:spPr>
      </p:pic>
      <p:sp>
        <p:nvSpPr>
          <p:cNvPr id="25" name="TextBox 24">
            <a:extLst>
              <a:ext uri="{FF2B5EF4-FFF2-40B4-BE49-F238E27FC236}">
                <a16:creationId xmlns:a16="http://schemas.microsoft.com/office/drawing/2014/main" id="{016D7A11-6518-0E44-AE07-D111032F1CDD}"/>
              </a:ext>
            </a:extLst>
          </p:cNvPr>
          <p:cNvSpPr txBox="1"/>
          <p:nvPr/>
        </p:nvSpPr>
        <p:spPr>
          <a:xfrm>
            <a:off x="3955325" y="5646328"/>
            <a:ext cx="857887" cy="369332"/>
          </a:xfrm>
          <a:prstGeom prst="rect">
            <a:avLst/>
          </a:prstGeom>
          <a:noFill/>
        </p:spPr>
        <p:txBody>
          <a:bodyPr wrap="square" rtlCol="0">
            <a:spAutoFit/>
          </a:bodyPr>
          <a:lstStyle/>
          <a:p>
            <a:r>
              <a:rPr lang="en-GB" dirty="0"/>
              <a:t>Server</a:t>
            </a:r>
          </a:p>
        </p:txBody>
      </p:sp>
      <p:sp>
        <p:nvSpPr>
          <p:cNvPr id="26" name="Flowchart: Process 56">
            <a:extLst>
              <a:ext uri="{FF2B5EF4-FFF2-40B4-BE49-F238E27FC236}">
                <a16:creationId xmlns:a16="http://schemas.microsoft.com/office/drawing/2014/main" id="{ED222FDD-C623-6B40-A40F-2325FDDF2365}"/>
              </a:ext>
            </a:extLst>
          </p:cNvPr>
          <p:cNvSpPr/>
          <p:nvPr/>
        </p:nvSpPr>
        <p:spPr>
          <a:xfrm>
            <a:off x="6886232" y="2763983"/>
            <a:ext cx="2956798" cy="3238498"/>
          </a:xfrm>
          <a:prstGeom prst="flowChartProcess">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p:sp>
        <p:nvSpPr>
          <p:cNvPr id="27" name="Flowchart: Process 57">
            <a:extLst>
              <a:ext uri="{FF2B5EF4-FFF2-40B4-BE49-F238E27FC236}">
                <a16:creationId xmlns:a16="http://schemas.microsoft.com/office/drawing/2014/main" id="{21AC648B-E45C-1C4D-8614-9FA22AB636DB}"/>
              </a:ext>
            </a:extLst>
          </p:cNvPr>
          <p:cNvSpPr/>
          <p:nvPr/>
        </p:nvSpPr>
        <p:spPr>
          <a:xfrm>
            <a:off x="7070219" y="3063300"/>
            <a:ext cx="1281953" cy="581163"/>
          </a:xfrm>
          <a:prstGeom prst="flowChartProcess">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Client</a:t>
            </a:r>
          </a:p>
          <a:p>
            <a:pPr algn="ctr"/>
            <a:r>
              <a:rPr lang="en-GB" dirty="0">
                <a:solidFill>
                  <a:schemeClr val="tx1"/>
                </a:solidFill>
              </a:rPr>
              <a:t>Socket</a:t>
            </a:r>
          </a:p>
        </p:txBody>
      </p:sp>
      <p:sp>
        <p:nvSpPr>
          <p:cNvPr id="28" name="Flowchart: Process 58">
            <a:extLst>
              <a:ext uri="{FF2B5EF4-FFF2-40B4-BE49-F238E27FC236}">
                <a16:creationId xmlns:a16="http://schemas.microsoft.com/office/drawing/2014/main" id="{19A65F17-C0F3-6A45-854C-9B4C7340A1E3}"/>
              </a:ext>
            </a:extLst>
          </p:cNvPr>
          <p:cNvSpPr/>
          <p:nvPr/>
        </p:nvSpPr>
        <p:spPr>
          <a:xfrm>
            <a:off x="7080726" y="4910190"/>
            <a:ext cx="1281953" cy="581163"/>
          </a:xfrm>
          <a:prstGeom prst="flowChartProcess">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Client</a:t>
            </a:r>
          </a:p>
          <a:p>
            <a:pPr algn="ctr"/>
            <a:r>
              <a:rPr lang="en-GB" dirty="0">
                <a:solidFill>
                  <a:schemeClr val="tx1"/>
                </a:solidFill>
              </a:rPr>
              <a:t>Socket</a:t>
            </a:r>
          </a:p>
        </p:txBody>
      </p:sp>
      <p:sp>
        <p:nvSpPr>
          <p:cNvPr id="29" name="Flowchart: Process 59">
            <a:extLst>
              <a:ext uri="{FF2B5EF4-FFF2-40B4-BE49-F238E27FC236}">
                <a16:creationId xmlns:a16="http://schemas.microsoft.com/office/drawing/2014/main" id="{874FE1C5-4006-CC4E-9834-326120869E41}"/>
              </a:ext>
            </a:extLst>
          </p:cNvPr>
          <p:cNvSpPr/>
          <p:nvPr/>
        </p:nvSpPr>
        <p:spPr>
          <a:xfrm>
            <a:off x="7080726" y="3963242"/>
            <a:ext cx="1281953" cy="581163"/>
          </a:xfrm>
          <a:prstGeom prst="flowChartProcess">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Client</a:t>
            </a:r>
          </a:p>
          <a:p>
            <a:pPr algn="ctr"/>
            <a:r>
              <a:rPr lang="en-GB" dirty="0">
                <a:solidFill>
                  <a:schemeClr val="tx1"/>
                </a:solidFill>
              </a:rPr>
              <a:t>Socket</a:t>
            </a:r>
          </a:p>
        </p:txBody>
      </p:sp>
      <p:sp>
        <p:nvSpPr>
          <p:cNvPr id="30" name="Flowchart: Process 60">
            <a:extLst>
              <a:ext uri="{FF2B5EF4-FFF2-40B4-BE49-F238E27FC236}">
                <a16:creationId xmlns:a16="http://schemas.microsoft.com/office/drawing/2014/main" id="{C23580AE-4288-D64C-8072-8B48B5EC3336}"/>
              </a:ext>
            </a:extLst>
          </p:cNvPr>
          <p:cNvSpPr/>
          <p:nvPr/>
        </p:nvSpPr>
        <p:spPr>
          <a:xfrm>
            <a:off x="8933595" y="3062300"/>
            <a:ext cx="695814" cy="581163"/>
          </a:xfrm>
          <a:prstGeom prst="flowChartProcess">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GUI</a:t>
            </a:r>
          </a:p>
        </p:txBody>
      </p:sp>
      <p:sp>
        <p:nvSpPr>
          <p:cNvPr id="31" name="Flowchart: Process 61">
            <a:extLst>
              <a:ext uri="{FF2B5EF4-FFF2-40B4-BE49-F238E27FC236}">
                <a16:creationId xmlns:a16="http://schemas.microsoft.com/office/drawing/2014/main" id="{DCAC3B28-031B-F546-80C8-AEDAE60D4CEC}"/>
              </a:ext>
            </a:extLst>
          </p:cNvPr>
          <p:cNvSpPr/>
          <p:nvPr/>
        </p:nvSpPr>
        <p:spPr>
          <a:xfrm>
            <a:off x="8933595" y="3962274"/>
            <a:ext cx="695814" cy="581163"/>
          </a:xfrm>
          <a:prstGeom prst="flowChartProcess">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GUI</a:t>
            </a:r>
          </a:p>
        </p:txBody>
      </p:sp>
      <p:sp>
        <p:nvSpPr>
          <p:cNvPr id="32" name="Flowchart: Process 62">
            <a:extLst>
              <a:ext uri="{FF2B5EF4-FFF2-40B4-BE49-F238E27FC236}">
                <a16:creationId xmlns:a16="http://schemas.microsoft.com/office/drawing/2014/main" id="{26140B1D-82BE-6B4B-BA50-3B35ABB9C3E6}"/>
              </a:ext>
            </a:extLst>
          </p:cNvPr>
          <p:cNvSpPr/>
          <p:nvPr/>
        </p:nvSpPr>
        <p:spPr>
          <a:xfrm>
            <a:off x="8933594" y="4910189"/>
            <a:ext cx="695814" cy="581163"/>
          </a:xfrm>
          <a:prstGeom prst="flowChartProcess">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GUI</a:t>
            </a:r>
          </a:p>
        </p:txBody>
      </p:sp>
      <p:pic>
        <p:nvPicPr>
          <p:cNvPr id="33" name="Graphic 32" descr="Line Arrow: Straight">
            <a:extLst>
              <a:ext uri="{FF2B5EF4-FFF2-40B4-BE49-F238E27FC236}">
                <a16:creationId xmlns:a16="http://schemas.microsoft.com/office/drawing/2014/main" id="{6C5F8948-9BFB-C34F-886B-900735C50D57}"/>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334291" y="3145085"/>
            <a:ext cx="566268" cy="556086"/>
          </a:xfrm>
          <a:prstGeom prst="rect">
            <a:avLst/>
          </a:prstGeom>
        </p:spPr>
      </p:pic>
      <p:pic>
        <p:nvPicPr>
          <p:cNvPr id="34" name="Graphic 33" descr="Line Arrow: Straight">
            <a:extLst>
              <a:ext uri="{FF2B5EF4-FFF2-40B4-BE49-F238E27FC236}">
                <a16:creationId xmlns:a16="http://schemas.microsoft.com/office/drawing/2014/main" id="{22A3A706-D1FF-C540-93D1-5AFB177A406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rot="10813637">
            <a:off x="8408210" y="3006045"/>
            <a:ext cx="566268" cy="556086"/>
          </a:xfrm>
          <a:prstGeom prst="rect">
            <a:avLst/>
          </a:prstGeom>
        </p:spPr>
      </p:pic>
      <p:pic>
        <p:nvPicPr>
          <p:cNvPr id="35" name="Graphic 34" descr="Line Arrow: Straight">
            <a:extLst>
              <a:ext uri="{FF2B5EF4-FFF2-40B4-BE49-F238E27FC236}">
                <a16:creationId xmlns:a16="http://schemas.microsoft.com/office/drawing/2014/main" id="{ADEDA344-9DC6-DC49-AD4F-5118F907BB26}"/>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334290" y="4041010"/>
            <a:ext cx="566268" cy="556086"/>
          </a:xfrm>
          <a:prstGeom prst="rect">
            <a:avLst/>
          </a:prstGeom>
        </p:spPr>
      </p:pic>
      <p:pic>
        <p:nvPicPr>
          <p:cNvPr id="36" name="Graphic 35" descr="Line Arrow: Straight">
            <a:extLst>
              <a:ext uri="{FF2B5EF4-FFF2-40B4-BE49-F238E27FC236}">
                <a16:creationId xmlns:a16="http://schemas.microsoft.com/office/drawing/2014/main" id="{33BAE1EA-4B31-024E-8CEC-575C6E00DDD0}"/>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rot="10813637">
            <a:off x="8408209" y="3901970"/>
            <a:ext cx="566268" cy="556086"/>
          </a:xfrm>
          <a:prstGeom prst="rect">
            <a:avLst/>
          </a:prstGeom>
        </p:spPr>
      </p:pic>
      <p:pic>
        <p:nvPicPr>
          <p:cNvPr id="37" name="Graphic 36" descr="Line Arrow: Straight">
            <a:extLst>
              <a:ext uri="{FF2B5EF4-FFF2-40B4-BE49-F238E27FC236}">
                <a16:creationId xmlns:a16="http://schemas.microsoft.com/office/drawing/2014/main" id="{EBF1A278-86ED-434F-9919-724B436EAD57}"/>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347454" y="4995029"/>
            <a:ext cx="566268" cy="556086"/>
          </a:xfrm>
          <a:prstGeom prst="rect">
            <a:avLst/>
          </a:prstGeom>
        </p:spPr>
      </p:pic>
      <p:pic>
        <p:nvPicPr>
          <p:cNvPr id="38" name="Graphic 37" descr="Line Arrow: Straight">
            <a:extLst>
              <a:ext uri="{FF2B5EF4-FFF2-40B4-BE49-F238E27FC236}">
                <a16:creationId xmlns:a16="http://schemas.microsoft.com/office/drawing/2014/main" id="{123E5CF7-B47C-7F46-B533-171CCC35A045}"/>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rot="10813637">
            <a:off x="8421373" y="4855989"/>
            <a:ext cx="566268" cy="556086"/>
          </a:xfrm>
          <a:prstGeom prst="rect">
            <a:avLst/>
          </a:prstGeom>
        </p:spPr>
      </p:pic>
      <p:sp>
        <p:nvSpPr>
          <p:cNvPr id="39" name="TextBox 38">
            <a:extLst>
              <a:ext uri="{FF2B5EF4-FFF2-40B4-BE49-F238E27FC236}">
                <a16:creationId xmlns:a16="http://schemas.microsoft.com/office/drawing/2014/main" id="{C6EE85D3-420E-B646-BCCA-5958F4E303C1}"/>
              </a:ext>
            </a:extLst>
          </p:cNvPr>
          <p:cNvSpPr txBox="1"/>
          <p:nvPr/>
        </p:nvSpPr>
        <p:spPr>
          <a:xfrm>
            <a:off x="7991328" y="5600245"/>
            <a:ext cx="857887" cy="369332"/>
          </a:xfrm>
          <a:prstGeom prst="rect">
            <a:avLst/>
          </a:prstGeom>
          <a:noFill/>
        </p:spPr>
        <p:txBody>
          <a:bodyPr wrap="square" rtlCol="0">
            <a:spAutoFit/>
          </a:bodyPr>
          <a:lstStyle/>
          <a:p>
            <a:r>
              <a:rPr lang="en-GB" dirty="0"/>
              <a:t>Client</a:t>
            </a:r>
          </a:p>
        </p:txBody>
      </p:sp>
      <p:sp>
        <p:nvSpPr>
          <p:cNvPr id="40" name="Flowchart: Process 70">
            <a:extLst>
              <a:ext uri="{FF2B5EF4-FFF2-40B4-BE49-F238E27FC236}">
                <a16:creationId xmlns:a16="http://schemas.microsoft.com/office/drawing/2014/main" id="{5AB152A4-B43D-EF45-BEF6-0E3BD11BBE93}"/>
              </a:ext>
            </a:extLst>
          </p:cNvPr>
          <p:cNvSpPr/>
          <p:nvPr/>
        </p:nvSpPr>
        <p:spPr>
          <a:xfrm>
            <a:off x="10393079" y="3957273"/>
            <a:ext cx="758485" cy="581163"/>
          </a:xfrm>
          <a:prstGeom prst="flowChartProcess">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User</a:t>
            </a:r>
          </a:p>
        </p:txBody>
      </p:sp>
      <p:sp>
        <p:nvSpPr>
          <p:cNvPr id="41" name="Flowchart: Process 71">
            <a:extLst>
              <a:ext uri="{FF2B5EF4-FFF2-40B4-BE49-F238E27FC236}">
                <a16:creationId xmlns:a16="http://schemas.microsoft.com/office/drawing/2014/main" id="{2945CC73-207E-2147-BCA0-FC825C5C3523}"/>
              </a:ext>
            </a:extLst>
          </p:cNvPr>
          <p:cNvSpPr/>
          <p:nvPr/>
        </p:nvSpPr>
        <p:spPr>
          <a:xfrm>
            <a:off x="10391176" y="3062299"/>
            <a:ext cx="758485" cy="581163"/>
          </a:xfrm>
          <a:prstGeom prst="flowChartProcess">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User</a:t>
            </a:r>
          </a:p>
        </p:txBody>
      </p:sp>
      <p:sp>
        <p:nvSpPr>
          <p:cNvPr id="42" name="Flowchart: Process 72">
            <a:extLst>
              <a:ext uri="{FF2B5EF4-FFF2-40B4-BE49-F238E27FC236}">
                <a16:creationId xmlns:a16="http://schemas.microsoft.com/office/drawing/2014/main" id="{B6EC040B-0771-2346-9194-E07D57F4FB03}"/>
              </a:ext>
            </a:extLst>
          </p:cNvPr>
          <p:cNvSpPr/>
          <p:nvPr/>
        </p:nvSpPr>
        <p:spPr>
          <a:xfrm>
            <a:off x="10393079" y="4910188"/>
            <a:ext cx="758485" cy="581163"/>
          </a:xfrm>
          <a:prstGeom prst="flowChartProcess">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User</a:t>
            </a:r>
          </a:p>
        </p:txBody>
      </p:sp>
      <p:pic>
        <p:nvPicPr>
          <p:cNvPr id="43" name="Graphic 42" descr="Line Arrow: Straight">
            <a:extLst>
              <a:ext uri="{FF2B5EF4-FFF2-40B4-BE49-F238E27FC236}">
                <a16:creationId xmlns:a16="http://schemas.microsoft.com/office/drawing/2014/main" id="{0D27E9B8-C6F1-E041-9FBE-77E9F989FD50}"/>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822254" y="3086122"/>
            <a:ext cx="566268" cy="556086"/>
          </a:xfrm>
          <a:prstGeom prst="rect">
            <a:avLst/>
          </a:prstGeom>
        </p:spPr>
      </p:pic>
      <p:pic>
        <p:nvPicPr>
          <p:cNvPr id="44" name="Graphic 43" descr="Line Arrow: Straight">
            <a:extLst>
              <a:ext uri="{FF2B5EF4-FFF2-40B4-BE49-F238E27FC236}">
                <a16:creationId xmlns:a16="http://schemas.microsoft.com/office/drawing/2014/main" id="{658E04DF-905C-D049-AADF-2F5409BC14E7}"/>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822253" y="3982047"/>
            <a:ext cx="566268" cy="556086"/>
          </a:xfrm>
          <a:prstGeom prst="rect">
            <a:avLst/>
          </a:prstGeom>
        </p:spPr>
      </p:pic>
      <p:pic>
        <p:nvPicPr>
          <p:cNvPr id="45" name="Graphic 44" descr="Line Arrow: Straight">
            <a:extLst>
              <a:ext uri="{FF2B5EF4-FFF2-40B4-BE49-F238E27FC236}">
                <a16:creationId xmlns:a16="http://schemas.microsoft.com/office/drawing/2014/main" id="{727A3F6C-E71C-0C4D-873C-4FD267B183FD}"/>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835417" y="4936066"/>
            <a:ext cx="566268" cy="556086"/>
          </a:xfrm>
          <a:prstGeom prst="rect">
            <a:avLst/>
          </a:prstGeom>
        </p:spPr>
      </p:pic>
      <p:pic>
        <p:nvPicPr>
          <p:cNvPr id="46" name="Graphic 45" descr="Line Arrow: Straight">
            <a:extLst>
              <a:ext uri="{FF2B5EF4-FFF2-40B4-BE49-F238E27FC236}">
                <a16:creationId xmlns:a16="http://schemas.microsoft.com/office/drawing/2014/main" id="{5BF6B479-B56E-5742-8FCA-82B7FE73186A}"/>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942152" y="3145085"/>
            <a:ext cx="1064701" cy="556086"/>
          </a:xfrm>
          <a:prstGeom prst="rect">
            <a:avLst/>
          </a:prstGeom>
        </p:spPr>
      </p:pic>
      <p:pic>
        <p:nvPicPr>
          <p:cNvPr id="47" name="Graphic 46" descr="Line Arrow: Straight">
            <a:extLst>
              <a:ext uri="{FF2B5EF4-FFF2-40B4-BE49-F238E27FC236}">
                <a16:creationId xmlns:a16="http://schemas.microsoft.com/office/drawing/2014/main" id="{682B1EE7-8436-244B-AB80-00ABBCADE052}"/>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rot="10813637">
            <a:off x="6016069" y="3007034"/>
            <a:ext cx="1064701" cy="556086"/>
          </a:xfrm>
          <a:prstGeom prst="rect">
            <a:avLst/>
          </a:prstGeom>
        </p:spPr>
      </p:pic>
      <p:pic>
        <p:nvPicPr>
          <p:cNvPr id="48" name="Graphic 47" descr="Line Arrow: Straight">
            <a:extLst>
              <a:ext uri="{FF2B5EF4-FFF2-40B4-BE49-F238E27FC236}">
                <a16:creationId xmlns:a16="http://schemas.microsoft.com/office/drawing/2014/main" id="{E473A527-D8F7-BA42-B896-EE7B80CF556E}"/>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942151" y="4041010"/>
            <a:ext cx="1064701" cy="556086"/>
          </a:xfrm>
          <a:prstGeom prst="rect">
            <a:avLst/>
          </a:prstGeom>
        </p:spPr>
      </p:pic>
      <p:pic>
        <p:nvPicPr>
          <p:cNvPr id="49" name="Graphic 48" descr="Line Arrow: Straight">
            <a:extLst>
              <a:ext uri="{FF2B5EF4-FFF2-40B4-BE49-F238E27FC236}">
                <a16:creationId xmlns:a16="http://schemas.microsoft.com/office/drawing/2014/main" id="{3B3BD480-0B50-D241-80AF-610E528B9017}"/>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rot="10813637">
            <a:off x="6016068" y="3902959"/>
            <a:ext cx="1064701" cy="556086"/>
          </a:xfrm>
          <a:prstGeom prst="rect">
            <a:avLst/>
          </a:prstGeom>
        </p:spPr>
      </p:pic>
      <p:pic>
        <p:nvPicPr>
          <p:cNvPr id="50" name="Graphic 49" descr="Line Arrow: Straight">
            <a:extLst>
              <a:ext uri="{FF2B5EF4-FFF2-40B4-BE49-F238E27FC236}">
                <a16:creationId xmlns:a16="http://schemas.microsoft.com/office/drawing/2014/main" id="{ACB5B723-B860-0043-9121-B7FF2A5ED5C8}"/>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955315" y="4995029"/>
            <a:ext cx="1064701" cy="556086"/>
          </a:xfrm>
          <a:prstGeom prst="rect">
            <a:avLst/>
          </a:prstGeom>
        </p:spPr>
      </p:pic>
      <p:pic>
        <p:nvPicPr>
          <p:cNvPr id="51" name="Graphic 50" descr="Line Arrow: Straight">
            <a:extLst>
              <a:ext uri="{FF2B5EF4-FFF2-40B4-BE49-F238E27FC236}">
                <a16:creationId xmlns:a16="http://schemas.microsoft.com/office/drawing/2014/main" id="{A4E91BB6-44D3-5E4E-9E02-8660C79D204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rot="10813637">
            <a:off x="6029232" y="4856978"/>
            <a:ext cx="1064701" cy="556086"/>
          </a:xfrm>
          <a:prstGeom prst="rect">
            <a:avLst/>
          </a:prstGeom>
        </p:spPr>
      </p:pic>
    </p:spTree>
    <p:extLst>
      <p:ext uri="{BB962C8B-B14F-4D97-AF65-F5344CB8AC3E}">
        <p14:creationId xmlns:p14="http://schemas.microsoft.com/office/powerpoint/2010/main" val="36549663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B21C36E-6C60-7C48-A7D6-96067712C5EB}"/>
              </a:ext>
            </a:extLst>
          </p:cNvPr>
          <p:cNvPicPr>
            <a:picLocks noChangeAspect="1"/>
          </p:cNvPicPr>
          <p:nvPr/>
        </p:nvPicPr>
        <p:blipFill>
          <a:blip r:embed="rId3">
            <a:alphaModFix amt="21000"/>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02AB21E0-48C3-9E41-88ED-71A55AC8637C}"/>
              </a:ext>
            </a:extLst>
          </p:cNvPr>
          <p:cNvSpPr>
            <a:spLocks noGrp="1"/>
          </p:cNvSpPr>
          <p:nvPr>
            <p:ph type="title"/>
          </p:nvPr>
        </p:nvSpPr>
        <p:spPr/>
        <p:txBody>
          <a:bodyPr/>
          <a:lstStyle/>
          <a:p>
            <a:r>
              <a:rPr lang="en-GB" b="1" dirty="0"/>
              <a:t>Database</a:t>
            </a:r>
            <a:endParaRPr lang="en-US" b="1" dirty="0"/>
          </a:p>
        </p:txBody>
      </p:sp>
      <p:sp>
        <p:nvSpPr>
          <p:cNvPr id="3" name="Content Placeholder 2">
            <a:extLst>
              <a:ext uri="{FF2B5EF4-FFF2-40B4-BE49-F238E27FC236}">
                <a16:creationId xmlns:a16="http://schemas.microsoft.com/office/drawing/2014/main" id="{BF633170-3FF6-F64D-B4FB-7E39E2A6AA52}"/>
              </a:ext>
            </a:extLst>
          </p:cNvPr>
          <p:cNvSpPr>
            <a:spLocks noGrp="1"/>
          </p:cNvSpPr>
          <p:nvPr>
            <p:ph idx="1"/>
          </p:nvPr>
        </p:nvSpPr>
        <p:spPr/>
        <p:txBody>
          <a:bodyPr>
            <a:normAutofit/>
          </a:bodyPr>
          <a:lstStyle/>
          <a:p>
            <a:r>
              <a:rPr lang="en-US" sz="3200" dirty="0"/>
              <a:t>Storing User data as whole objects</a:t>
            </a:r>
          </a:p>
          <a:p>
            <a:endParaRPr lang="en-US" sz="3200" dirty="0"/>
          </a:p>
          <a:p>
            <a:endParaRPr lang="en-US" sz="3200" dirty="0"/>
          </a:p>
        </p:txBody>
      </p:sp>
    </p:spTree>
    <p:extLst>
      <p:ext uri="{BB962C8B-B14F-4D97-AF65-F5344CB8AC3E}">
        <p14:creationId xmlns:p14="http://schemas.microsoft.com/office/powerpoint/2010/main" val="41294648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810846-E1C5-0D4C-BCD8-C726A252A43A}"/>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8248B527-CA97-7143-B6F3-61589D9690D7}"/>
              </a:ext>
            </a:extLst>
          </p:cNvPr>
          <p:cNvSpPr>
            <a:spLocks noGrp="1"/>
          </p:cNvSpPr>
          <p:nvPr>
            <p:ph idx="1"/>
          </p:nvPr>
        </p:nvSpPr>
        <p:spPr/>
        <p:txBody>
          <a:bodyPr/>
          <a:lstStyle/>
          <a:p>
            <a:endParaRPr lang="en-US"/>
          </a:p>
        </p:txBody>
      </p:sp>
      <p:pic>
        <p:nvPicPr>
          <p:cNvPr id="4" name="Picture 3">
            <a:extLst>
              <a:ext uri="{FF2B5EF4-FFF2-40B4-BE49-F238E27FC236}">
                <a16:creationId xmlns:a16="http://schemas.microsoft.com/office/drawing/2014/main" id="{B16C57CE-4352-5D4A-A6E2-6F6704C1A1CF}"/>
              </a:ext>
            </a:extLst>
          </p:cNvPr>
          <p:cNvPicPr/>
          <p:nvPr/>
        </p:nvPicPr>
        <p:blipFill>
          <a:blip r:embed="rId3"/>
          <a:stretch>
            <a:fillRect/>
          </a:stretch>
        </p:blipFill>
        <p:spPr>
          <a:xfrm>
            <a:off x="838200" y="365125"/>
            <a:ext cx="10515600" cy="5811838"/>
          </a:xfrm>
          <a:prstGeom prst="rect">
            <a:avLst/>
          </a:prstGeom>
        </p:spPr>
      </p:pic>
    </p:spTree>
    <p:extLst>
      <p:ext uri="{BB962C8B-B14F-4D97-AF65-F5344CB8AC3E}">
        <p14:creationId xmlns:p14="http://schemas.microsoft.com/office/powerpoint/2010/main" val="36218089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B21C36E-6C60-7C48-A7D6-96067712C5EB}"/>
              </a:ext>
            </a:extLst>
          </p:cNvPr>
          <p:cNvPicPr>
            <a:picLocks noChangeAspect="1"/>
          </p:cNvPicPr>
          <p:nvPr/>
        </p:nvPicPr>
        <p:blipFill>
          <a:blip r:embed="rId3">
            <a:alphaModFix amt="21000"/>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02AB21E0-48C3-9E41-88ED-71A55AC8637C}"/>
              </a:ext>
            </a:extLst>
          </p:cNvPr>
          <p:cNvSpPr>
            <a:spLocks noGrp="1"/>
          </p:cNvSpPr>
          <p:nvPr>
            <p:ph type="title"/>
          </p:nvPr>
        </p:nvSpPr>
        <p:spPr/>
        <p:txBody>
          <a:bodyPr/>
          <a:lstStyle/>
          <a:p>
            <a:r>
              <a:rPr lang="en-GB" b="1" dirty="0"/>
              <a:t>Database</a:t>
            </a:r>
            <a:endParaRPr lang="en-US" b="1" dirty="0"/>
          </a:p>
        </p:txBody>
      </p:sp>
      <p:sp>
        <p:nvSpPr>
          <p:cNvPr id="3" name="Content Placeholder 2">
            <a:extLst>
              <a:ext uri="{FF2B5EF4-FFF2-40B4-BE49-F238E27FC236}">
                <a16:creationId xmlns:a16="http://schemas.microsoft.com/office/drawing/2014/main" id="{BF633170-3FF6-F64D-B4FB-7E39E2A6AA52}"/>
              </a:ext>
            </a:extLst>
          </p:cNvPr>
          <p:cNvSpPr>
            <a:spLocks noGrp="1"/>
          </p:cNvSpPr>
          <p:nvPr>
            <p:ph idx="1"/>
          </p:nvPr>
        </p:nvSpPr>
        <p:spPr/>
        <p:txBody>
          <a:bodyPr>
            <a:normAutofit/>
          </a:bodyPr>
          <a:lstStyle/>
          <a:p>
            <a:r>
              <a:rPr lang="en-US" sz="3200" dirty="0"/>
              <a:t>Storing User data as whole objects</a:t>
            </a:r>
          </a:p>
          <a:p>
            <a:pPr marL="0" indent="0">
              <a:buNone/>
            </a:pPr>
            <a:endParaRPr lang="en-US" sz="3200" dirty="0"/>
          </a:p>
          <a:p>
            <a:r>
              <a:rPr lang="en-US" sz="3200" dirty="0"/>
              <a:t>Constraints</a:t>
            </a:r>
          </a:p>
          <a:p>
            <a:endParaRPr lang="en-US" sz="3200" dirty="0"/>
          </a:p>
          <a:p>
            <a:r>
              <a:rPr lang="en-US" sz="3200" dirty="0"/>
              <a:t>DB class executes </a:t>
            </a:r>
            <a:r>
              <a:rPr lang="en-US" sz="3200" dirty="0" err="1"/>
              <a:t>PreparedStatement</a:t>
            </a:r>
            <a:r>
              <a:rPr lang="en-US" sz="3200" dirty="0"/>
              <a:t> query and process the result</a:t>
            </a:r>
          </a:p>
        </p:txBody>
      </p:sp>
    </p:spTree>
    <p:extLst>
      <p:ext uri="{BB962C8B-B14F-4D97-AF65-F5344CB8AC3E}">
        <p14:creationId xmlns:p14="http://schemas.microsoft.com/office/powerpoint/2010/main" val="23765715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B21C36E-6C60-7C48-A7D6-96067712C5EB}"/>
              </a:ext>
            </a:extLst>
          </p:cNvPr>
          <p:cNvPicPr>
            <a:picLocks noChangeAspect="1"/>
          </p:cNvPicPr>
          <p:nvPr/>
        </p:nvPicPr>
        <p:blipFill>
          <a:blip r:embed="rId3">
            <a:alphaModFix amt="21000"/>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02AB21E0-48C3-9E41-88ED-71A55AC8637C}"/>
              </a:ext>
            </a:extLst>
          </p:cNvPr>
          <p:cNvSpPr>
            <a:spLocks noGrp="1"/>
          </p:cNvSpPr>
          <p:nvPr>
            <p:ph type="title"/>
          </p:nvPr>
        </p:nvSpPr>
        <p:spPr/>
        <p:txBody>
          <a:bodyPr/>
          <a:lstStyle/>
          <a:p>
            <a:r>
              <a:rPr lang="en-GB" b="1" dirty="0"/>
              <a:t>Server</a:t>
            </a:r>
            <a:endParaRPr lang="en-US" b="1" dirty="0"/>
          </a:p>
        </p:txBody>
      </p:sp>
      <p:sp>
        <p:nvSpPr>
          <p:cNvPr id="3" name="Content Placeholder 2">
            <a:extLst>
              <a:ext uri="{FF2B5EF4-FFF2-40B4-BE49-F238E27FC236}">
                <a16:creationId xmlns:a16="http://schemas.microsoft.com/office/drawing/2014/main" id="{BF633170-3FF6-F64D-B4FB-7E39E2A6AA52}"/>
              </a:ext>
            </a:extLst>
          </p:cNvPr>
          <p:cNvSpPr>
            <a:spLocks noGrp="1"/>
          </p:cNvSpPr>
          <p:nvPr>
            <p:ph idx="1"/>
          </p:nvPr>
        </p:nvSpPr>
        <p:spPr/>
        <p:txBody>
          <a:bodyPr>
            <a:normAutofit/>
          </a:bodyPr>
          <a:lstStyle/>
          <a:p>
            <a:r>
              <a:rPr lang="en-GB" sz="3200" dirty="0"/>
              <a:t>Threads for handling incoming requests</a:t>
            </a:r>
            <a:r>
              <a:rPr lang="en-GB" sz="3200" dirty="0">
                <a:effectLst/>
              </a:rPr>
              <a:t> </a:t>
            </a:r>
          </a:p>
          <a:p>
            <a:endParaRPr lang="en-GB" sz="3200" dirty="0"/>
          </a:p>
          <a:p>
            <a:r>
              <a:rPr lang="en-GB" sz="3200" dirty="0"/>
              <a:t>Establishes available port on the host machine</a:t>
            </a:r>
          </a:p>
          <a:p>
            <a:endParaRPr lang="en-GB" sz="3200" dirty="0"/>
          </a:p>
          <a:p>
            <a:r>
              <a:rPr lang="en-GB" sz="3200" dirty="0"/>
              <a:t>Listens for clients and assigns a socket </a:t>
            </a:r>
          </a:p>
          <a:p>
            <a:endParaRPr lang="en-GB" sz="3200" dirty="0"/>
          </a:p>
          <a:p>
            <a:r>
              <a:rPr lang="en-GB" sz="3200" dirty="0"/>
              <a:t>The thread is a runnable task (Executor)</a:t>
            </a:r>
            <a:endParaRPr lang="en-US" sz="3200" dirty="0"/>
          </a:p>
        </p:txBody>
      </p:sp>
    </p:spTree>
    <p:extLst>
      <p:ext uri="{BB962C8B-B14F-4D97-AF65-F5344CB8AC3E}">
        <p14:creationId xmlns:p14="http://schemas.microsoft.com/office/powerpoint/2010/main" val="405182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B21C36E-6C60-7C48-A7D6-96067712C5EB}"/>
              </a:ext>
            </a:extLst>
          </p:cNvPr>
          <p:cNvPicPr>
            <a:picLocks noChangeAspect="1"/>
          </p:cNvPicPr>
          <p:nvPr/>
        </p:nvPicPr>
        <p:blipFill>
          <a:blip r:embed="rId3">
            <a:alphaModFix amt="21000"/>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02AB21E0-48C3-9E41-88ED-71A55AC8637C}"/>
              </a:ext>
            </a:extLst>
          </p:cNvPr>
          <p:cNvSpPr>
            <a:spLocks noGrp="1"/>
          </p:cNvSpPr>
          <p:nvPr>
            <p:ph type="title"/>
          </p:nvPr>
        </p:nvSpPr>
        <p:spPr/>
        <p:txBody>
          <a:bodyPr/>
          <a:lstStyle/>
          <a:p>
            <a:r>
              <a:rPr lang="en-GB" b="1" dirty="0"/>
              <a:t>Client</a:t>
            </a:r>
            <a:endParaRPr lang="en-US" b="1" dirty="0"/>
          </a:p>
        </p:txBody>
      </p:sp>
      <p:sp>
        <p:nvSpPr>
          <p:cNvPr id="3" name="Content Placeholder 2">
            <a:extLst>
              <a:ext uri="{FF2B5EF4-FFF2-40B4-BE49-F238E27FC236}">
                <a16:creationId xmlns:a16="http://schemas.microsoft.com/office/drawing/2014/main" id="{BF633170-3FF6-F64D-B4FB-7E39E2A6AA52}"/>
              </a:ext>
            </a:extLst>
          </p:cNvPr>
          <p:cNvSpPr>
            <a:spLocks noGrp="1"/>
          </p:cNvSpPr>
          <p:nvPr>
            <p:ph idx="1"/>
          </p:nvPr>
        </p:nvSpPr>
        <p:spPr/>
        <p:txBody>
          <a:bodyPr>
            <a:normAutofit/>
          </a:bodyPr>
          <a:lstStyle/>
          <a:p>
            <a:r>
              <a:rPr lang="en-GB" sz="3200" dirty="0"/>
              <a:t>Connecting with the server via Java’s sockets functionality</a:t>
            </a:r>
          </a:p>
          <a:p>
            <a:endParaRPr lang="en-GB" sz="3200" dirty="0"/>
          </a:p>
          <a:p>
            <a:r>
              <a:rPr lang="en-GB" sz="3200" dirty="0"/>
              <a:t>Password encryption</a:t>
            </a:r>
          </a:p>
          <a:p>
            <a:endParaRPr lang="en-GB" sz="3200" dirty="0"/>
          </a:p>
          <a:p>
            <a:r>
              <a:rPr lang="en-GB" sz="3200" dirty="0"/>
              <a:t>Updates</a:t>
            </a:r>
          </a:p>
          <a:p>
            <a:endParaRPr lang="en-GB" sz="3200" dirty="0"/>
          </a:p>
          <a:p>
            <a:endParaRPr lang="en-US" sz="3600" dirty="0"/>
          </a:p>
        </p:txBody>
      </p:sp>
    </p:spTree>
    <p:extLst>
      <p:ext uri="{BB962C8B-B14F-4D97-AF65-F5344CB8AC3E}">
        <p14:creationId xmlns:p14="http://schemas.microsoft.com/office/powerpoint/2010/main" val="22701926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B21C36E-6C60-7C48-A7D6-96067712C5EB}"/>
              </a:ext>
            </a:extLst>
          </p:cNvPr>
          <p:cNvPicPr>
            <a:picLocks noChangeAspect="1"/>
          </p:cNvPicPr>
          <p:nvPr/>
        </p:nvPicPr>
        <p:blipFill>
          <a:blip r:embed="rId3">
            <a:alphaModFix amt="21000"/>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02AB21E0-48C3-9E41-88ED-71A55AC8637C}"/>
              </a:ext>
            </a:extLst>
          </p:cNvPr>
          <p:cNvSpPr>
            <a:spLocks noGrp="1"/>
          </p:cNvSpPr>
          <p:nvPr>
            <p:ph type="title"/>
          </p:nvPr>
        </p:nvSpPr>
        <p:spPr/>
        <p:txBody>
          <a:bodyPr/>
          <a:lstStyle/>
          <a:p>
            <a:r>
              <a:rPr lang="en-GB" b="1" dirty="0"/>
              <a:t>Graphical User Interface</a:t>
            </a:r>
            <a:endParaRPr lang="en-US" b="1" dirty="0"/>
          </a:p>
        </p:txBody>
      </p:sp>
      <p:sp>
        <p:nvSpPr>
          <p:cNvPr id="3" name="Content Placeholder 2">
            <a:extLst>
              <a:ext uri="{FF2B5EF4-FFF2-40B4-BE49-F238E27FC236}">
                <a16:creationId xmlns:a16="http://schemas.microsoft.com/office/drawing/2014/main" id="{BF633170-3FF6-F64D-B4FB-7E39E2A6AA52}"/>
              </a:ext>
            </a:extLst>
          </p:cNvPr>
          <p:cNvSpPr>
            <a:spLocks noGrp="1"/>
          </p:cNvSpPr>
          <p:nvPr>
            <p:ph idx="1"/>
          </p:nvPr>
        </p:nvSpPr>
        <p:spPr/>
        <p:txBody>
          <a:bodyPr>
            <a:normAutofit lnSpcReduction="10000"/>
          </a:bodyPr>
          <a:lstStyle/>
          <a:p>
            <a:pPr marL="0" indent="0">
              <a:lnSpc>
                <a:spcPct val="100000"/>
              </a:lnSpc>
              <a:buNone/>
            </a:pPr>
            <a:endParaRPr lang="en-US" sz="1100" dirty="0"/>
          </a:p>
          <a:p>
            <a:pPr>
              <a:lnSpc>
                <a:spcPct val="100000"/>
              </a:lnSpc>
            </a:pPr>
            <a:r>
              <a:rPr lang="en-US" sz="3600" dirty="0"/>
              <a:t>Login</a:t>
            </a:r>
          </a:p>
          <a:p>
            <a:pPr>
              <a:lnSpc>
                <a:spcPct val="100000"/>
              </a:lnSpc>
            </a:pPr>
            <a:r>
              <a:rPr lang="en-US" sz="3600" dirty="0"/>
              <a:t>Patient Homepage</a:t>
            </a:r>
          </a:p>
          <a:p>
            <a:pPr>
              <a:lnSpc>
                <a:spcPct val="100000"/>
              </a:lnSpc>
            </a:pPr>
            <a:r>
              <a:rPr lang="en-US" sz="3600" dirty="0"/>
              <a:t>Doctor Homepage</a:t>
            </a:r>
          </a:p>
          <a:p>
            <a:pPr marL="0" indent="0">
              <a:lnSpc>
                <a:spcPct val="100000"/>
              </a:lnSpc>
              <a:buNone/>
            </a:pPr>
            <a:endParaRPr lang="en-US" sz="3600" dirty="0"/>
          </a:p>
          <a:p>
            <a:pPr lvl="1">
              <a:lnSpc>
                <a:spcPct val="100000"/>
              </a:lnSpc>
              <a:buFont typeface="Wingdings" pitchFamily="2" charset="2"/>
              <a:buChar char="v"/>
            </a:pPr>
            <a:r>
              <a:rPr lang="en-US" sz="3200" dirty="0"/>
              <a:t>View Patient Details</a:t>
            </a:r>
          </a:p>
          <a:p>
            <a:pPr marL="457200" lvl="1" indent="0">
              <a:lnSpc>
                <a:spcPct val="100000"/>
              </a:lnSpc>
              <a:buNone/>
            </a:pPr>
            <a:endParaRPr lang="en-US" sz="3200" dirty="0"/>
          </a:p>
          <a:p>
            <a:pPr lvl="1">
              <a:lnSpc>
                <a:spcPct val="100000"/>
              </a:lnSpc>
              <a:buFont typeface="Wingdings" pitchFamily="2" charset="2"/>
              <a:buChar char="v"/>
            </a:pPr>
            <a:r>
              <a:rPr lang="en-US" sz="3200" dirty="0"/>
              <a:t>Add New Patients</a:t>
            </a:r>
          </a:p>
          <a:p>
            <a:pPr marL="457200" lvl="1" indent="0">
              <a:lnSpc>
                <a:spcPct val="100000"/>
              </a:lnSpc>
              <a:buNone/>
            </a:pPr>
            <a:endParaRPr lang="en-US" sz="3200" dirty="0"/>
          </a:p>
          <a:p>
            <a:pPr marL="457200" lvl="1" indent="0">
              <a:lnSpc>
                <a:spcPct val="100000"/>
              </a:lnSpc>
              <a:buNone/>
            </a:pPr>
            <a:endParaRPr lang="en-US" sz="1100" dirty="0"/>
          </a:p>
          <a:p>
            <a:pPr>
              <a:lnSpc>
                <a:spcPct val="100000"/>
              </a:lnSpc>
            </a:pPr>
            <a:endParaRPr lang="en-US" sz="3600" dirty="0"/>
          </a:p>
        </p:txBody>
      </p:sp>
    </p:spTree>
    <p:extLst>
      <p:ext uri="{BB962C8B-B14F-4D97-AF65-F5344CB8AC3E}">
        <p14:creationId xmlns:p14="http://schemas.microsoft.com/office/powerpoint/2010/main" val="13975819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B21C36E-6C60-7C48-A7D6-96067712C5EB}"/>
              </a:ext>
            </a:extLst>
          </p:cNvPr>
          <p:cNvPicPr>
            <a:picLocks noChangeAspect="1"/>
          </p:cNvPicPr>
          <p:nvPr/>
        </p:nvPicPr>
        <p:blipFill>
          <a:blip r:embed="rId3">
            <a:alphaModFix amt="21000"/>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02AB21E0-48C3-9E41-88ED-71A55AC8637C}"/>
              </a:ext>
            </a:extLst>
          </p:cNvPr>
          <p:cNvSpPr>
            <a:spLocks noGrp="1"/>
          </p:cNvSpPr>
          <p:nvPr>
            <p:ph type="title"/>
          </p:nvPr>
        </p:nvSpPr>
        <p:spPr/>
        <p:txBody>
          <a:bodyPr/>
          <a:lstStyle/>
          <a:p>
            <a:r>
              <a:rPr lang="en-GB" b="1" dirty="0"/>
              <a:t>Evaluation</a:t>
            </a:r>
            <a:endParaRPr lang="en-US" b="1" dirty="0"/>
          </a:p>
        </p:txBody>
      </p:sp>
      <p:sp>
        <p:nvSpPr>
          <p:cNvPr id="3" name="Content Placeholder 2">
            <a:extLst>
              <a:ext uri="{FF2B5EF4-FFF2-40B4-BE49-F238E27FC236}">
                <a16:creationId xmlns:a16="http://schemas.microsoft.com/office/drawing/2014/main" id="{BF633170-3FF6-F64D-B4FB-7E39E2A6AA52}"/>
              </a:ext>
            </a:extLst>
          </p:cNvPr>
          <p:cNvSpPr>
            <a:spLocks noGrp="1"/>
          </p:cNvSpPr>
          <p:nvPr>
            <p:ph idx="1"/>
          </p:nvPr>
        </p:nvSpPr>
        <p:spPr/>
        <p:txBody>
          <a:bodyPr>
            <a:normAutofit/>
          </a:bodyPr>
          <a:lstStyle/>
          <a:p>
            <a:pPr lvl="1">
              <a:lnSpc>
                <a:spcPct val="100000"/>
              </a:lnSpc>
            </a:pPr>
            <a:r>
              <a:rPr lang="en-GB" sz="3600" dirty="0"/>
              <a:t>Successful implementation</a:t>
            </a:r>
          </a:p>
          <a:p>
            <a:pPr lvl="1">
              <a:lnSpc>
                <a:spcPct val="100000"/>
              </a:lnSpc>
            </a:pPr>
            <a:endParaRPr lang="en-GB" sz="3600" dirty="0"/>
          </a:p>
          <a:p>
            <a:pPr lvl="1">
              <a:lnSpc>
                <a:spcPct val="100000"/>
              </a:lnSpc>
            </a:pPr>
            <a:endParaRPr lang="en-GB" sz="3600" dirty="0"/>
          </a:p>
          <a:p>
            <a:pPr lvl="1">
              <a:lnSpc>
                <a:spcPct val="100000"/>
              </a:lnSpc>
            </a:pPr>
            <a:r>
              <a:rPr lang="en-GB" sz="3600" dirty="0"/>
              <a:t>Risk Management</a:t>
            </a:r>
          </a:p>
          <a:p>
            <a:pPr marL="457200" lvl="1" indent="0">
              <a:lnSpc>
                <a:spcPct val="100000"/>
              </a:lnSpc>
              <a:buNone/>
            </a:pPr>
            <a:endParaRPr lang="en-GB" sz="3600" dirty="0"/>
          </a:p>
          <a:p>
            <a:pPr lvl="1">
              <a:lnSpc>
                <a:spcPct val="100000"/>
              </a:lnSpc>
            </a:pPr>
            <a:endParaRPr lang="en-US" sz="3600" dirty="0"/>
          </a:p>
        </p:txBody>
      </p:sp>
    </p:spTree>
    <p:extLst>
      <p:ext uri="{BB962C8B-B14F-4D97-AF65-F5344CB8AC3E}">
        <p14:creationId xmlns:p14="http://schemas.microsoft.com/office/powerpoint/2010/main" val="174544769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1672</TotalTime>
  <Words>1534</Words>
  <Application>Microsoft Macintosh PowerPoint</Application>
  <PresentationFormat>Widescreen</PresentationFormat>
  <Paragraphs>141</Paragraphs>
  <Slides>11</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Calibri</vt:lpstr>
      <vt:lpstr>Calibri Light</vt:lpstr>
      <vt:lpstr>Wingdings</vt:lpstr>
      <vt:lpstr>Office Theme</vt:lpstr>
      <vt:lpstr>Blood Pressure Readings</vt:lpstr>
      <vt:lpstr>Content</vt:lpstr>
      <vt:lpstr>Medical Desktop Application</vt:lpstr>
      <vt:lpstr>The architecture of the system </vt:lpstr>
      <vt:lpstr>Database</vt:lpstr>
      <vt:lpstr>PowerPoint Presentation</vt:lpstr>
      <vt:lpstr>Database</vt:lpstr>
      <vt:lpstr>Server</vt:lpstr>
      <vt:lpstr>Client</vt:lpstr>
      <vt:lpstr>Graphical User Interface</vt:lpstr>
      <vt:lpstr>Evaluation</vt:lpstr>
    </vt:vector>
  </TitlesOfParts>
  <Company/>
  <LinksUpToDate>false</LinksUpToDate>
  <SharedDoc>false</SharedDoc>
  <HyperlinksChanged>false</HyperlinksChanged>
  <AppVersion>16.0010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Blood Pressure Readings</dc:title>
  <dc:creator>Shukri Ali</dc:creator>
  <cp:lastModifiedBy>Shukri Ali</cp:lastModifiedBy>
  <cp:revision>39</cp:revision>
  <dcterms:created xsi:type="dcterms:W3CDTF">2018-03-19T13:04:33Z</dcterms:created>
  <dcterms:modified xsi:type="dcterms:W3CDTF">2018-03-20T16:57:10Z</dcterms:modified>
</cp:coreProperties>
</file>